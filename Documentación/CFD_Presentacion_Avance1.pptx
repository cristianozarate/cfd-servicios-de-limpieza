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QPBJcLD4+5FbQrqz2O3MOUG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3AEEF-A5DA-4B11-9F52-5920664DB252}">
  <a:tblStyle styleId="{1773AEEF-A5DA-4B11-9F52-5920664DB2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59" autoAdjust="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206240"/>
            <a:ext cx="9144000" cy="93720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274320" y="82296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ESTADO DE AVANCE N°1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12344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CFD Servicios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Plataforma de Agenda Online para Empresa de </a:t>
            </a:r>
            <a:r>
              <a:rPr lang="en-US" sz="16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274320" y="2926080"/>
            <a:ext cx="8595300" cy="0"/>
          </a:xfrm>
          <a:prstGeom prst="straightConnector1">
            <a:avLst/>
          </a:prstGeom>
          <a:noFill/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1"/>
          <p:cNvSpPr/>
          <p:nvPr/>
        </p:nvSpPr>
        <p:spPr>
          <a:xfrm>
            <a:off x="274320" y="3017520"/>
            <a:ext cx="41148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Fernando Zárate Martínez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Líder de Proyecto  /  Frontend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Gabriel Avendaño Campos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Backend  /  DBA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54880" y="3017520"/>
            <a:ext cx="4114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TPY1101 — Taller Aplicado de Programación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Analista Programador · Duoc UC ·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El cliente: CFD Servicios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280160"/>
            <a:ext cx="4114800" cy="320040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1148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Sitio ACTUAL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17373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cfdservicios.cl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1480" y="2176272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PHP en hosting compartido (WebHostChile)</a:t>
            </a:r>
            <a:b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Solo informativo — sin login, sin agenda, sin pagos</a:t>
            </a:r>
            <a:b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Cotizaciones y reservas 100% por teléfono</a:t>
            </a:r>
            <a:b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Sin base de datos de clientes ni historial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4480560" y="288036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2"/>
          <p:cNvSpPr/>
          <p:nvPr/>
        </p:nvSpPr>
        <p:spPr>
          <a:xfrm>
            <a:off x="4892040" y="2697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800600" y="1280160"/>
            <a:ext cx="4114800" cy="320040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98348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83480" y="17373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Plataforma Fullstack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83480" y="2176272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React 18 + Spring Boot 3 (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migración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desde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PHP)</a:t>
            </a:r>
            <a:b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horaria</a:t>
            </a:r>
            <a:b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Sistema de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reservas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Dashboard admin con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r>
              <a:rPr lang="en-US" sz="125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25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¿Por qué falla el modelo actual?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017520" y="1234440"/>
            <a:ext cx="3108960" cy="640080"/>
          </a:xfrm>
          <a:prstGeom prst="rect">
            <a:avLst/>
          </a:prstGeom>
          <a:solidFill>
            <a:srgbClr val="E05252"/>
          </a:solidFill>
          <a:ln w="12700" cap="flat" cmpd="sng">
            <a:solidFill>
              <a:srgbClr val="E0525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017520" y="1234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canal transaccional automatizado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64592" y="210312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01752" y="2194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TECNOLOGÍA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01752" y="245059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Hosting PHP compartido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no soporta Java/Node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46120" y="210312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83280" y="2194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383280" y="245059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Reservas por teléfono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sin flujo automatizado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27648" y="210312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64808" y="2194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MANO DE OBRA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64808" y="245059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Sin especialista digital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Equipo pequeño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64592" y="352044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01752" y="361188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01752" y="386791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Sin BD de </a:t>
            </a:r>
            <a:r>
              <a:rPr lang="en-US" sz="120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46120" y="352044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383280" y="361188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MEDICIÓN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383280" y="386791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Sin  </a:t>
            </a:r>
            <a:r>
              <a:rPr lang="en-US" sz="120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historial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de  </a:t>
            </a:r>
            <a:r>
              <a:rPr lang="en-US" sz="120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reservas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27648" y="3520440"/>
            <a:ext cx="2926080" cy="11887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64808" y="361188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MEDIO AMBIENTE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64808" y="386791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Clientes esperan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autoservicio 24/7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DEL ARTE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¿Qué existe en el mercado?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4"/>
          <p:cNvGraphicFramePr/>
          <p:nvPr>
            <p:extLst>
              <p:ext uri="{D42A27DB-BD31-4B8C-83A1-F6EECF244321}">
                <p14:modId xmlns:p14="http://schemas.microsoft.com/office/powerpoint/2010/main" val="1867204600"/>
              </p:ext>
            </p:extLst>
          </p:nvPr>
        </p:nvGraphicFramePr>
        <p:xfrm>
          <a:off x="164592" y="1280160"/>
          <a:ext cx="8869700" cy="2743200"/>
        </p:xfrm>
        <a:graphic>
          <a:graphicData uri="http://schemas.openxmlformats.org/drawingml/2006/table">
            <a:tbl>
              <a:tblPr>
                <a:noFill/>
                <a:tableStyleId>{1773AEEF-A5DA-4B11-9F52-5920664DB252}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5F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CFD Servicios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(nuestra propuesta)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AgendaPro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5F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</a:rPr>
                        <a:t>Calendly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5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Enfoque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Pyme chilena de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limpieza — a medida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Genérico /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multi-rubro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Agendamiento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genérico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Costo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Inversión única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+ hosting bajo costo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3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Suscripción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mensual SaaS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Suscripción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mensual SaaS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 dirty="0" err="1">
                          <a:solidFill>
                            <a:srgbClr val="333333"/>
                          </a:solidFill>
                        </a:rPr>
                        <a:t>Personalización</a:t>
                      </a:r>
                      <a:endParaRPr sz="11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Total — hecho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A4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A3A40"/>
                          </a:solidFill>
                        </a:rPr>
                        <a:t>a la medida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3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Limitada a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3333"/>
                          </a:solidFill>
                        </a:rPr>
                        <a:t>plantillas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333333"/>
                          </a:solidFill>
                        </a:rPr>
                        <a:t>Muy </a:t>
                      </a:r>
                      <a:r>
                        <a:rPr lang="en-US" sz="1100" u="none" strike="noStrike" cap="none" dirty="0" err="1">
                          <a:solidFill>
                            <a:srgbClr val="333333"/>
                          </a:solidFill>
                        </a:rPr>
                        <a:t>limitada</a:t>
                      </a:r>
                      <a:endParaRPr sz="11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" name="Google Shape;83;p4"/>
          <p:cNvSpPr/>
          <p:nvPr/>
        </p:nvSpPr>
        <p:spPr>
          <a:xfrm>
            <a:off x="192042" y="4709140"/>
            <a:ext cx="881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 ventaja clave de nuestra solución: es la única con Transbank nativo y hecha específicamente para el flujo de CFD.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¿Qué vamos a construir?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228600" y="1280160"/>
            <a:ext cx="8686800" cy="868680"/>
          </a:xfrm>
          <a:prstGeom prst="rect">
            <a:avLst/>
          </a:prstGeom>
          <a:solidFill>
            <a:srgbClr val="152535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11480" y="135331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11480" y="158191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4F4F0"/>
              </a:buClr>
              <a:buSzPts val="1250"/>
            </a:pP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una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platafo</a:t>
            </a:r>
            <a:r>
              <a:rPr lang="en-US" sz="125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rma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web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Fullstack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reemplace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sitio PHP de CFD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agendamiento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servicios,dashboard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reduciendo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la carga </a:t>
            </a:r>
            <a:r>
              <a:rPr lang="en-US" sz="1250" b="0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operativa</a:t>
            </a:r>
            <a:r>
              <a:rPr lang="en-US" sz="1250" b="0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manual.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28600" y="2331720"/>
            <a:ext cx="4251960" cy="21031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11480" y="24231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OE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11480" y="26791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Módulo de catálogo y disponibilidad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11480" y="3090672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horaria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real,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permitiendo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reservar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de forma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autónoma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sin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contacto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telefónico</a:t>
            </a:r>
            <a:r>
              <a:rPr lang="en-US" sz="1200" b="0" i="0" u="none" strike="noStrike" cap="none" dirty="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663440" y="2331720"/>
            <a:ext cx="4251960" cy="210312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</p:txBody>
      </p:sp>
      <p:sp>
        <p:nvSpPr>
          <p:cNvPr id="102" name="Google Shape;102;p5"/>
          <p:cNvSpPr/>
          <p:nvPr/>
        </p:nvSpPr>
        <p:spPr>
          <a:xfrm>
            <a:off x="4846320" y="24231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OE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846320" y="26791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es-MX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Gestión y Administración</a:t>
            </a:r>
            <a:endParaRPr lang="es-MX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846320" y="3090672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FB3BB"/>
              </a:buClr>
              <a:buSzPts val="1200"/>
            </a:pPr>
            <a:r>
              <a:rPr lang="es-MX" sz="1200" dirty="0">
                <a:solidFill>
                  <a:srgbClr val="779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un panel de control interno que permita al administrador gestionar las reservas recibidas, actualizar el estado de los servicios en tiempo real y visualizar métricas de demanda, centralizando toda la información operativa en una sola interfaz.</a:t>
            </a:r>
            <a:endParaRPr lang="es-MX" sz="1200" b="0" i="0" u="none" strike="noStrike" cap="none" dirty="0">
              <a:solidFill>
                <a:srgbClr val="779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CLOUD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¿Por </a:t>
            </a:r>
            <a:r>
              <a:rPr lang="en-US" sz="3000" b="1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lang="en-US" sz="3000" b="1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Cloud y </a:t>
            </a:r>
            <a:r>
              <a:rPr lang="en-US" sz="3000" b="1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lang="en-US" sz="3000" b="1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n-US" sz="3000" b="1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r>
              <a:rPr lang="en-US" sz="3000" b="1" i="0" u="none" strike="noStrike" cap="none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64592" y="1325880"/>
            <a:ext cx="2103120" cy="329184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64592" y="1325880"/>
            <a:ext cx="2103120" cy="36576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64592" y="13258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56032" y="17556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56032" y="22128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Frontend React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256032" y="2606040"/>
            <a:ext cx="1828800" cy="0"/>
          </a:xfrm>
          <a:prstGeom prst="straightConnector1">
            <a:avLst/>
          </a:prstGeom>
          <a:noFill/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6"/>
          <p:cNvSpPr/>
          <p:nvPr/>
        </p:nvSpPr>
        <p:spPr>
          <a:xfrm>
            <a:off x="256032" y="2697480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Deploy automático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con git push. CDN global.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386584" y="1325880"/>
            <a:ext cx="2103120" cy="329184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386584" y="1325880"/>
            <a:ext cx="2103120" cy="36576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2386584" y="13258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478024" y="17556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478024" y="22128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Backend + MySQL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6"/>
          <p:cNvCxnSpPr/>
          <p:nvPr/>
        </p:nvCxnSpPr>
        <p:spPr>
          <a:xfrm>
            <a:off x="2478024" y="2606040"/>
            <a:ext cx="1828800" cy="0"/>
          </a:xfrm>
          <a:prstGeom prst="straightConnector1">
            <a:avLst/>
          </a:prstGeom>
          <a:noFill/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6"/>
          <p:cNvSpPr/>
          <p:nvPr/>
        </p:nvSpPr>
        <p:spPr>
          <a:xfrm>
            <a:off x="2478024" y="2697480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Spring Boot JAR.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MySQL en la nube.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608576" y="1325880"/>
            <a:ext cx="2103120" cy="329184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1D6A8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608576" y="1344168"/>
            <a:ext cx="2103120" cy="365760"/>
          </a:xfrm>
          <a:prstGeom prst="rect">
            <a:avLst/>
          </a:prstGeom>
          <a:solidFill>
            <a:srgbClr val="1D6A8F"/>
          </a:solidFill>
          <a:ln w="12700" cap="flat" cmpd="sng">
            <a:solidFill>
              <a:srgbClr val="1D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608576" y="13258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700016" y="17556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700016" y="22128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4700016" y="2606040"/>
            <a:ext cx="1828800" cy="0"/>
          </a:xfrm>
          <a:prstGeom prst="straightConnector1">
            <a:avLst/>
          </a:prstGeom>
          <a:noFill/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6"/>
          <p:cNvSpPr/>
          <p:nvPr/>
        </p:nvSpPr>
        <p:spPr>
          <a:xfrm>
            <a:off x="4700016" y="2697480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Repositorio único: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github.com/cristiano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Zarate/CFD-Servicios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922008" y="17556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20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22008" y="221284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922008" y="2697480"/>
            <a:ext cx="19202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64592" y="4709160"/>
            <a:ext cx="88148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Por qué no el hosting actual: el plan PHP de WebHostChile no soporta Java ni Node.js. La arquitectura Cloud PaaS elimina esa restricción y garantiza disponibilidad 99.9% sin administrar servidores.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Stack tecnológico seleccionado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164592" y="1261872"/>
            <a:ext cx="2834640" cy="338328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0040" y="135331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20040" y="171907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React 18 + Vite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0040" y="221284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React Router DOM 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20040" y="270662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Axios (HTTP)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" y="32004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Bootstrap 5.3 (CDN)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20040" y="369417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Vitest + Testing Library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154680" y="1261872"/>
            <a:ext cx="2834640" cy="338328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310128" y="135331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310128" y="171907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Java 17 + Spring Boot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310128" y="221284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Spring Security + JWT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310128" y="270662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Spring Data JPA + Hibernate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10128" y="32004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MySQL (XAMPP local)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310128" y="369417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Swagger UI (SpringDoc)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44768" y="1261872"/>
            <a:ext cx="2834640" cy="3383280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300216" y="135331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300216" y="171907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GitHub (repositorio único)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300216" y="221284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Figma (UI/UX prototipo)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300216" y="270662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Postman (pruebas API)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00216" y="32004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Maven (build backend)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300216" y="369417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Transbank SDK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64592" y="4709160"/>
            <a:ext cx="88148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Misma arquitectura que HazelLab (proyecto anterior del equipo) — conocimiento validado en producción.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— ISHIKAWA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28600" y="438895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Diagrama de causa-efecto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1BB045D-3545-B492-25C6-E10408A77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87" y="1079095"/>
            <a:ext cx="5845810" cy="3472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4+1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Modelo de vistas arquitectónicas (Kruchten)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164592" y="1325880"/>
            <a:ext cx="2834640" cy="178308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64592" y="1325880"/>
            <a:ext cx="502920" cy="178308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64592" y="1325880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58952" y="1435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VISTA ESCENARIOS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58952" y="1737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8 actores × 11 casos de uso.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Cliente: agendar, pagar, ver reservas.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Admin: gestionar servicios, reservas, reportes.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136392" y="1325880"/>
            <a:ext cx="2834640" cy="178308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136392" y="1325880"/>
            <a:ext cx="502920" cy="1783080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136392" y="1325880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730752" y="1435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VISTA LÓGICA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730752" y="1737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JPA: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, Servicio,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CategoriaServicio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Reserva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108192" y="1325880"/>
            <a:ext cx="2834640" cy="178308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1D6A8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108192" y="1325880"/>
            <a:ext cx="502920" cy="1783080"/>
          </a:xfrm>
          <a:prstGeom prst="rect">
            <a:avLst/>
          </a:prstGeom>
          <a:solidFill>
            <a:srgbClr val="1D6A8F"/>
          </a:solidFill>
          <a:ln w="12700" cap="flat" cmpd="sng">
            <a:solidFill>
              <a:srgbClr val="1D6A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108192" y="1325880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702552" y="1435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VISTA DESARROLLO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702552" y="1737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Frontend: components/, pages/, services/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Backend: controller/, service/,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repository/, model/, security/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64592" y="3246120"/>
            <a:ext cx="4279392" cy="178308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1D4E8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64592" y="3246120"/>
            <a:ext cx="502920" cy="1783080"/>
          </a:xfrm>
          <a:prstGeom prst="rect">
            <a:avLst/>
          </a:prstGeom>
          <a:solidFill>
            <a:srgbClr val="1D4E89"/>
          </a:solidFill>
          <a:ln w="12700" cap="flat" cmpd="sng">
            <a:solidFill>
              <a:srgbClr val="1D4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164592" y="3246120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58952" y="3355848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VISTA PROCESOS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58952" y="3657600"/>
            <a:ext cx="3593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Flujo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: Auth JWT →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→ Agenda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Reserva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Confirmar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rechazar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608576" y="3246120"/>
            <a:ext cx="4279392" cy="1783080"/>
          </a:xfrm>
          <a:prstGeom prst="rect">
            <a:avLst/>
          </a:prstGeom>
          <a:solidFill>
            <a:srgbClr val="152535"/>
          </a:solidFill>
          <a:ln w="10150" cap="flat" cmpd="sng">
            <a:solidFill>
              <a:srgbClr val="1539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608576" y="3246120"/>
            <a:ext cx="502920" cy="1783080"/>
          </a:xfrm>
          <a:prstGeom prst="rect">
            <a:avLst/>
          </a:prstGeom>
          <a:solidFill>
            <a:srgbClr val="15396B"/>
          </a:solidFill>
          <a:ln w="12700" cap="flat" cmpd="sng">
            <a:solidFill>
              <a:srgbClr val="1539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608576" y="3246120"/>
            <a:ext cx="502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202936" y="3355848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VISTA FÍSICA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202936" y="3657600"/>
            <a:ext cx="3593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(PaaS) → Railway (PaaS)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+ MySQL cfdservicios.cl </a:t>
            </a:r>
            <a:r>
              <a:rPr lang="en-US" sz="11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vía</a:t>
            </a:r>
            <a:r>
              <a:rPr lang="en-US" sz="11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DNS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Plan de trabajo — 18 semanas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3017520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675888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334256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992624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650992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309360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967728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626096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284464" y="129844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64592" y="1618488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017520" y="1664208"/>
            <a:ext cx="292608" cy="26517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2" name="Google Shape;242;p10"/>
          <p:cNvCxnSpPr/>
          <p:nvPr/>
        </p:nvCxnSpPr>
        <p:spPr>
          <a:xfrm>
            <a:off x="164592" y="1975104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p10"/>
          <p:cNvSpPr/>
          <p:nvPr/>
        </p:nvSpPr>
        <p:spPr>
          <a:xfrm>
            <a:off x="164592" y="2011680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Diseño BD + Figma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346704" y="2057400"/>
            <a:ext cx="950976" cy="26517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401568" y="2084832"/>
            <a:ext cx="8595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Gab/Fern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>
            <a:off x="164592" y="2368296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10"/>
          <p:cNvSpPr/>
          <p:nvPr/>
        </p:nvSpPr>
        <p:spPr>
          <a:xfrm>
            <a:off x="164592" y="2404872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Config. entorno Cloud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34256" y="2450592"/>
            <a:ext cx="292608" cy="265176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9" name="Google Shape;249;p10"/>
          <p:cNvCxnSpPr/>
          <p:nvPr/>
        </p:nvCxnSpPr>
        <p:spPr>
          <a:xfrm>
            <a:off x="164592" y="2761488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10"/>
          <p:cNvSpPr/>
          <p:nvPr/>
        </p:nvSpPr>
        <p:spPr>
          <a:xfrm>
            <a:off x="164592" y="2798064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Catálogo + Disponibilidad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663440" y="2843784"/>
            <a:ext cx="621792" cy="265176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718304" y="2871216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stack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0"/>
          <p:cNvCxnSpPr/>
          <p:nvPr/>
        </p:nvCxnSpPr>
        <p:spPr>
          <a:xfrm>
            <a:off x="164592" y="3154680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254;p10"/>
          <p:cNvSpPr/>
          <p:nvPr/>
        </p:nvSpPr>
        <p:spPr>
          <a:xfrm>
            <a:off x="164592" y="3191256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Agenda + JWT + Usuarios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321808" y="3236976"/>
            <a:ext cx="621792" cy="265176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376672" y="3264408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stack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164592" y="3547872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0"/>
          <p:cNvSpPr/>
          <p:nvPr/>
        </p:nvSpPr>
        <p:spPr>
          <a:xfrm>
            <a:off x="164592" y="3584448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Integración Transbank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980176" y="3630168"/>
            <a:ext cx="621792" cy="265176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035040" y="3657600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stack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0"/>
          <p:cNvCxnSpPr/>
          <p:nvPr/>
        </p:nvCxnSpPr>
        <p:spPr>
          <a:xfrm>
            <a:off x="164592" y="3941064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10"/>
          <p:cNvSpPr/>
          <p:nvPr/>
        </p:nvSpPr>
        <p:spPr>
          <a:xfrm>
            <a:off x="164592" y="3977640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Dashboard Admin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638544" y="4023360"/>
            <a:ext cx="621792" cy="265176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693408" y="4050792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stack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0"/>
          <p:cNvCxnSpPr/>
          <p:nvPr/>
        </p:nvCxnSpPr>
        <p:spPr>
          <a:xfrm>
            <a:off x="164592" y="4334256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10"/>
          <p:cNvSpPr/>
          <p:nvPr/>
        </p:nvSpPr>
        <p:spPr>
          <a:xfrm>
            <a:off x="164592" y="4370832"/>
            <a:ext cx="27889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QA + Pruebas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296912" y="4416552"/>
            <a:ext cx="621792" cy="265176"/>
          </a:xfrm>
          <a:prstGeom prst="rect">
            <a:avLst/>
          </a:prstGeom>
          <a:solidFill>
            <a:srgbClr val="1D4E89"/>
          </a:solidFill>
          <a:ln w="12700" cap="flat" cmpd="sng">
            <a:solidFill>
              <a:srgbClr val="1D4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7351776" y="4443984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Fernando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0"/>
          <p:cNvCxnSpPr/>
          <p:nvPr/>
        </p:nvCxnSpPr>
        <p:spPr>
          <a:xfrm>
            <a:off x="164592" y="4727448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10"/>
          <p:cNvSpPr/>
          <p:nvPr/>
        </p:nvSpPr>
        <p:spPr>
          <a:xfrm>
            <a:off x="159971" y="4809749"/>
            <a:ext cx="2788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Deploy + Presentación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955280" y="4809744"/>
            <a:ext cx="950976" cy="265176"/>
          </a:xfrm>
          <a:prstGeom prst="rect">
            <a:avLst/>
          </a:prstGeom>
          <a:solidFill>
            <a:srgbClr val="1D4E89"/>
          </a:solidFill>
          <a:ln w="12700" cap="flat" cmpd="sng">
            <a:solidFill>
              <a:srgbClr val="1D4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010144" y="4837176"/>
            <a:ext cx="8595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0"/>
          <p:cNvCxnSpPr/>
          <p:nvPr/>
        </p:nvCxnSpPr>
        <p:spPr>
          <a:xfrm>
            <a:off x="164592" y="5120640"/>
            <a:ext cx="8814816" cy="0"/>
          </a:xfrm>
          <a:prstGeom prst="straightConnector1">
            <a:avLst/>
          </a:prstGeom>
          <a:noFill/>
          <a:ln w="9525" cap="flat" cmpd="sng">
            <a:solidFill>
              <a:srgbClr val="1A2E3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10"/>
          <p:cNvSpPr/>
          <p:nvPr/>
        </p:nvSpPr>
        <p:spPr>
          <a:xfrm>
            <a:off x="164592" y="4754880"/>
            <a:ext cx="182880" cy="18288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11480" y="4736592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Fase 1: Análisis y diseño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182112" y="4754880"/>
            <a:ext cx="182880" cy="182880"/>
          </a:xfrm>
          <a:prstGeom prst="rect">
            <a:avLst/>
          </a:prstGeom>
          <a:solidFill>
            <a:srgbClr val="027A85"/>
          </a:solidFill>
          <a:ln w="12700" cap="flat" cmpd="sng">
            <a:solidFill>
              <a:srgbClr val="027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429000" y="473659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Fase 2: Desarrollo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199632" y="4754880"/>
            <a:ext cx="182880" cy="182880"/>
          </a:xfrm>
          <a:prstGeom prst="rect">
            <a:avLst/>
          </a:prstGeom>
          <a:solidFill>
            <a:srgbClr val="1D4E89"/>
          </a:solidFill>
          <a:ln w="12700" cap="flat" cmpd="sng">
            <a:solidFill>
              <a:srgbClr val="1D4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446520" y="473659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Fase 3: Cierre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7" name="Google Shape;28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040" y="3657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228600" y="164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SÍNTESIS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28600" y="5029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Lo que vamos a entregar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28600" y="1325880"/>
            <a:ext cx="8686800" cy="566928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228600" y="1325880"/>
            <a:ext cx="54864" cy="566928"/>
          </a:xfrm>
          <a:prstGeom prst="rect">
            <a:avLst/>
          </a:prstGeom>
          <a:solidFill>
            <a:srgbClr val="00A896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84048" y="1344168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Plataforma Fullstack React + Spring Boot que reemplaza el sitio PHP actual de CFD Servicios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28600" y="1965960"/>
            <a:ext cx="8686800" cy="566928"/>
          </a:xfrm>
          <a:prstGeom prst="rect">
            <a:avLst/>
          </a:prstGeom>
          <a:solidFill>
            <a:srgbClr val="0F1E2B"/>
          </a:solidFill>
          <a:ln w="9525" cap="flat" cmpd="sng">
            <a:solidFill>
              <a:srgbClr val="1A3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28600" y="1965960"/>
            <a:ext cx="54864" cy="566928"/>
          </a:xfrm>
          <a:prstGeom prst="rect">
            <a:avLst/>
          </a:prstGeom>
          <a:solidFill>
            <a:srgbClr val="00A896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84048" y="1984248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Sistema de </a:t>
            </a:r>
            <a:r>
              <a:rPr lang="en-US" sz="13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reservas</a:t>
            </a: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3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horaria</a:t>
            </a: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dirty="0" err="1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n-US" sz="1300" dirty="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 real.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28600" y="2606040"/>
            <a:ext cx="8686800" cy="566928"/>
          </a:xfrm>
          <a:prstGeom prst="rect">
            <a:avLst/>
          </a:prstGeom>
          <a:solidFill>
            <a:srgbClr val="15253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28600" y="2606040"/>
            <a:ext cx="54864" cy="566928"/>
          </a:xfrm>
          <a:prstGeom prst="rect">
            <a:avLst/>
          </a:prstGeom>
          <a:solidFill>
            <a:srgbClr val="00A896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384048" y="2624328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Dashboard administrativo para que CFD gestione servicios, reservas y reportes desde un panel propio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228600" y="3246120"/>
            <a:ext cx="8686800" cy="566928"/>
          </a:xfrm>
          <a:prstGeom prst="rect">
            <a:avLst/>
          </a:prstGeom>
          <a:solidFill>
            <a:srgbClr val="0F1E2B"/>
          </a:solidFill>
          <a:ln w="9525" cap="flat" cmpd="sng">
            <a:solidFill>
              <a:srgbClr val="1A3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28600" y="3246120"/>
            <a:ext cx="54864" cy="566928"/>
          </a:xfrm>
          <a:prstGeom prst="rect">
            <a:avLst/>
          </a:prstGeom>
          <a:solidFill>
            <a:srgbClr val="00A896"/>
          </a:solidFill>
          <a:ln w="127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384048" y="3264408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Arquitectura Cloud PaaS (Vercel + Railway) que garantiza disponibilidad 24/7 sin gestionar servidores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228600" y="40050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4F4F0"/>
                </a:solidFill>
                <a:latin typeface="Calibri"/>
                <a:ea typeface="Calibri"/>
                <a:cs typeface="Calibri"/>
                <a:sym typeface="Calibri"/>
              </a:rPr>
              <a:t>Fernando Zárate Martínez  |  Gabriel Avendaño Campos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228600" y="432511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github.com/cristianoZarate/CFD-Servicios-de-limpieza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858000" y="400507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845</Words>
  <Application>Microsoft Office PowerPoint</Application>
  <PresentationFormat>Presentación en pantalla (16:9)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Fernando Zárate / Gabriel Avendaño</dc:creator>
  <cp:lastModifiedBy>FERNANDO ANTONIO ZARATE MARTINEZ</cp:lastModifiedBy>
  <cp:revision>4</cp:revision>
  <dcterms:created xsi:type="dcterms:W3CDTF">2026-04-13T16:51:53Z</dcterms:created>
  <dcterms:modified xsi:type="dcterms:W3CDTF">2026-04-16T04:43:10Z</dcterms:modified>
</cp:coreProperties>
</file>
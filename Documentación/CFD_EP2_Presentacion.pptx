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6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5" r:id="rId23"/>
    <p:sldId id="276" r:id="rId24"/>
    <p:sldId id="278" r:id="rId2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05E89D1-AAD9-4019-A6DB-12B3E4F44C33}" v="4" dt="2026-05-28T18:44:06.39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666928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://localhost:8080/swagger-ui/index.html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cfd-servicios-de-limpieza-production.up.railway.app/swagger-ui.html" TargetMode="Externa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5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03D7E"/>
          </a:solidFill>
          <a:ln w="12700">
            <a:solidFill>
              <a:srgbClr val="003D7E"/>
            </a:solidFill>
            <a:prstDash val="solid"/>
          </a:ln>
        </p:spPr>
        <p:txBody>
          <a:bodyPr/>
          <a:lstStyle/>
          <a:p>
            <a:endParaRPr lang="en-150"/>
          </a:p>
        </p:txBody>
      </p:sp>
      <p:sp>
        <p:nvSpPr>
          <p:cNvPr id="3" name="Shape 1"/>
          <p:cNvSpPr/>
          <p:nvPr/>
        </p:nvSpPr>
        <p:spPr>
          <a:xfrm>
            <a:off x="201168" y="4480560"/>
            <a:ext cx="8942832" cy="109728"/>
          </a:xfrm>
          <a:prstGeom prst="rect">
            <a:avLst/>
          </a:prstGeom>
          <a:solidFill>
            <a:srgbClr val="C8E600"/>
          </a:solidFill>
          <a:ln w="12700">
            <a:solidFill>
              <a:srgbClr val="C8E600"/>
            </a:solidFill>
            <a:prstDash val="solid"/>
          </a:ln>
        </p:spPr>
        <p:txBody>
          <a:bodyPr/>
          <a:lstStyle/>
          <a:p>
            <a:endParaRPr lang="en-15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412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CFD SERVICIOS</a:t>
            </a:r>
            <a:endParaRPr lang="en-US" sz="5800" dirty="0"/>
          </a:p>
        </p:txBody>
      </p:sp>
      <p:sp>
        <p:nvSpPr>
          <p:cNvPr id="5" name="Text 3"/>
          <p:cNvSpPr/>
          <p:nvPr/>
        </p:nvSpPr>
        <p:spPr>
          <a:xfrm>
            <a:off x="457200" y="150876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C8E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de Agendamiento de Limpieza Profesional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2084832"/>
            <a:ext cx="5486400" cy="36576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150"/>
          </a:p>
        </p:txBody>
      </p:sp>
      <p:sp>
        <p:nvSpPr>
          <p:cNvPr id="7" name="Shape 5"/>
          <p:cNvSpPr/>
          <p:nvPr/>
        </p:nvSpPr>
        <p:spPr>
          <a:xfrm>
            <a:off x="457200" y="2212848"/>
            <a:ext cx="2926080" cy="384048"/>
          </a:xfrm>
          <a:prstGeom prst="rect">
            <a:avLst/>
          </a:prstGeom>
          <a:solidFill>
            <a:srgbClr val="003D7E"/>
          </a:solidFill>
          <a:ln w="12700">
            <a:solidFill>
              <a:srgbClr val="1A73E8"/>
            </a:solidFill>
            <a:prstDash val="solid"/>
          </a:ln>
        </p:spPr>
        <p:txBody>
          <a:bodyPr/>
          <a:lstStyle/>
          <a:p>
            <a:endParaRPr lang="en-150"/>
          </a:p>
        </p:txBody>
      </p:sp>
      <p:sp>
        <p:nvSpPr>
          <p:cNvPr id="8" name="Text 6"/>
          <p:cNvSpPr/>
          <p:nvPr/>
        </p:nvSpPr>
        <p:spPr>
          <a:xfrm>
            <a:off x="457200" y="2212848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DE AVANCE N°2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2697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TPY1101 — Taller Aplicado de Programación  ·  Duoc UC 2026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3246120"/>
            <a:ext cx="3474720" cy="658368"/>
          </a:xfrm>
          <a:prstGeom prst="rect">
            <a:avLst/>
          </a:prstGeom>
          <a:solidFill>
            <a:srgbClr val="0D1B35"/>
          </a:solidFill>
          <a:ln w="12700">
            <a:solidFill>
              <a:srgbClr val="003D7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150"/>
          </a:p>
        </p:txBody>
      </p:sp>
      <p:sp>
        <p:nvSpPr>
          <p:cNvPr id="11" name="Shape 9"/>
          <p:cNvSpPr/>
          <p:nvPr/>
        </p:nvSpPr>
        <p:spPr>
          <a:xfrm>
            <a:off x="566928" y="3364992"/>
            <a:ext cx="420624" cy="420624"/>
          </a:xfrm>
          <a:prstGeom prst="ellipse">
            <a:avLst/>
          </a:prstGeom>
          <a:solidFill>
            <a:srgbClr val="003D7E"/>
          </a:solidFill>
          <a:ln w="12700">
            <a:solidFill>
              <a:srgbClr val="1A73E8"/>
            </a:solidFill>
            <a:prstDash val="solid"/>
          </a:ln>
        </p:spPr>
        <p:txBody>
          <a:bodyPr/>
          <a:lstStyle/>
          <a:p>
            <a:endParaRPr lang="en-150"/>
          </a:p>
        </p:txBody>
      </p:sp>
      <p:sp>
        <p:nvSpPr>
          <p:cNvPr id="12" name="Text 10"/>
          <p:cNvSpPr/>
          <p:nvPr/>
        </p:nvSpPr>
        <p:spPr>
          <a:xfrm>
            <a:off x="566928" y="336499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FZ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051560" y="3319272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Fernando Zárate Martínez
</a:t>
            </a: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Líder de Proyecto / Frontend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114800" y="3246120"/>
            <a:ext cx="3474720" cy="658368"/>
          </a:xfrm>
          <a:prstGeom prst="rect">
            <a:avLst/>
          </a:prstGeom>
          <a:solidFill>
            <a:srgbClr val="0D1B35"/>
          </a:solidFill>
          <a:ln w="12700">
            <a:solidFill>
              <a:srgbClr val="003D7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150"/>
          </a:p>
        </p:txBody>
      </p:sp>
      <p:sp>
        <p:nvSpPr>
          <p:cNvPr id="15" name="Shape 13"/>
          <p:cNvSpPr/>
          <p:nvPr/>
        </p:nvSpPr>
        <p:spPr>
          <a:xfrm>
            <a:off x="4224528" y="3364992"/>
            <a:ext cx="420624" cy="42062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150"/>
          </a:p>
        </p:txBody>
      </p:sp>
      <p:sp>
        <p:nvSpPr>
          <p:cNvPr id="16" name="Text 14"/>
          <p:cNvSpPr/>
          <p:nvPr/>
        </p:nvSpPr>
        <p:spPr>
          <a:xfrm>
            <a:off x="4224528" y="336499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709160" y="3319272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Gabriel Avendaño Campos
</a:t>
            </a: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Desarrollador Backend / DBA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46817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github.com/cristianoZarate/CFD-Servicios-de-limpieza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3D7E"/>
          </a:solidFill>
          <a:ln w="12700">
            <a:solidFill>
              <a:srgbClr val="003D7E"/>
            </a:solidFill>
            <a:prstDash val="solid"/>
          </a:ln>
        </p:spPr>
        <p:txBody>
          <a:bodyPr/>
          <a:lstStyle/>
          <a:p>
            <a:endParaRPr lang="en-150"/>
          </a:p>
        </p:txBody>
      </p:sp>
      <p:sp>
        <p:nvSpPr>
          <p:cNvPr id="3" name="Shape 1"/>
          <p:cNvSpPr/>
          <p:nvPr/>
        </p:nvSpPr>
        <p:spPr>
          <a:xfrm>
            <a:off x="164592" y="0"/>
            <a:ext cx="8979408" cy="914400"/>
          </a:xfrm>
          <a:prstGeom prst="rect">
            <a:avLst/>
          </a:prstGeom>
          <a:solidFill>
            <a:srgbClr val="003D7E"/>
          </a:solidFill>
          <a:ln w="12700">
            <a:solidFill>
              <a:srgbClr val="003D7E"/>
            </a:solidFill>
            <a:prstDash val="solid"/>
          </a:ln>
        </p:spPr>
        <p:txBody>
          <a:bodyPr/>
          <a:lstStyle/>
          <a:p>
            <a:endParaRPr lang="en-150"/>
          </a:p>
        </p:txBody>
      </p:sp>
      <p:sp>
        <p:nvSpPr>
          <p:cNvPr id="4" name="Text 2"/>
          <p:cNvSpPr/>
          <p:nvPr/>
        </p:nvSpPr>
        <p:spPr>
          <a:xfrm>
            <a:off x="365760" y="91440"/>
            <a:ext cx="8595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¿De qué hablaremos hoy?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457200" cy="475488"/>
          </a:xfrm>
          <a:prstGeom prst="rect">
            <a:avLst/>
          </a:prstGeom>
          <a:solidFill>
            <a:srgbClr val="C8E600"/>
          </a:solidFill>
          <a:ln w="12700">
            <a:solidFill>
              <a:srgbClr val="C8E600"/>
            </a:solidFill>
            <a:prstDash val="solid"/>
          </a:ln>
        </p:spPr>
        <p:txBody>
          <a:bodyPr/>
          <a:lstStyle/>
          <a:p>
            <a:endParaRPr lang="en-150"/>
          </a:p>
        </p:txBody>
      </p:sp>
      <p:sp>
        <p:nvSpPr>
          <p:cNvPr id="6" name="Text 4"/>
          <p:cNvSpPr/>
          <p:nvPr/>
        </p:nvSpPr>
        <p:spPr>
          <a:xfrm>
            <a:off x="365760" y="1078992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3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1115568"/>
            <a:ext cx="3474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 del proyecto y el problema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1810512"/>
            <a:ext cx="457200" cy="475488"/>
          </a:xfrm>
          <a:prstGeom prst="rect">
            <a:avLst/>
          </a:prstGeom>
          <a:solidFill>
            <a:srgbClr val="D6E4F7"/>
          </a:solidFill>
          <a:ln w="12700">
            <a:solidFill>
              <a:srgbClr val="D6E4F7"/>
            </a:solidFill>
            <a:prstDash val="solid"/>
          </a:ln>
        </p:spPr>
        <p:txBody>
          <a:bodyPr/>
          <a:lstStyle/>
          <a:p>
            <a:endParaRPr lang="en-150"/>
          </a:p>
        </p:txBody>
      </p:sp>
      <p:sp>
        <p:nvSpPr>
          <p:cNvPr id="9" name="Text 7"/>
          <p:cNvSpPr/>
          <p:nvPr/>
        </p:nvSpPr>
        <p:spPr>
          <a:xfrm>
            <a:off x="365760" y="1810512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3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14400" y="1847088"/>
            <a:ext cx="3474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Solución propuesta y objetivos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2542032"/>
            <a:ext cx="457200" cy="475488"/>
          </a:xfrm>
          <a:prstGeom prst="rect">
            <a:avLst/>
          </a:prstGeom>
          <a:solidFill>
            <a:srgbClr val="D6E4F7"/>
          </a:solidFill>
          <a:ln w="12700">
            <a:solidFill>
              <a:srgbClr val="D6E4F7"/>
            </a:solidFill>
            <a:prstDash val="solid"/>
          </a:ln>
        </p:spPr>
        <p:txBody>
          <a:bodyPr/>
          <a:lstStyle/>
          <a:p>
            <a:endParaRPr lang="en-150"/>
          </a:p>
        </p:txBody>
      </p:sp>
      <p:sp>
        <p:nvSpPr>
          <p:cNvPr id="12" name="Text 10"/>
          <p:cNvSpPr/>
          <p:nvPr/>
        </p:nvSpPr>
        <p:spPr>
          <a:xfrm>
            <a:off x="365760" y="2542032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3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914400" y="2578608"/>
            <a:ext cx="3474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tecnológico y arquitectura Cloud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65760" y="3273552"/>
            <a:ext cx="457200" cy="475488"/>
          </a:xfrm>
          <a:prstGeom prst="rect">
            <a:avLst/>
          </a:prstGeom>
          <a:solidFill>
            <a:srgbClr val="D6E4F7"/>
          </a:solidFill>
          <a:ln w="12700">
            <a:solidFill>
              <a:srgbClr val="D6E4F7"/>
            </a:solidFill>
            <a:prstDash val="solid"/>
          </a:ln>
        </p:spPr>
        <p:txBody>
          <a:bodyPr/>
          <a:lstStyle/>
          <a:p>
            <a:endParaRPr lang="en-150"/>
          </a:p>
        </p:txBody>
      </p:sp>
      <p:sp>
        <p:nvSpPr>
          <p:cNvPr id="15" name="Text 13"/>
          <p:cNvSpPr/>
          <p:nvPr/>
        </p:nvSpPr>
        <p:spPr>
          <a:xfrm>
            <a:off x="365760" y="3273552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3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914400" y="3310128"/>
            <a:ext cx="3474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arquitectónico 4+1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65760" y="4005072"/>
            <a:ext cx="457200" cy="475488"/>
          </a:xfrm>
          <a:prstGeom prst="rect">
            <a:avLst/>
          </a:prstGeom>
          <a:solidFill>
            <a:srgbClr val="D6E4F7"/>
          </a:solidFill>
          <a:ln w="12700">
            <a:solidFill>
              <a:srgbClr val="D6E4F7"/>
            </a:solidFill>
            <a:prstDash val="solid"/>
          </a:ln>
        </p:spPr>
        <p:txBody>
          <a:bodyPr/>
          <a:lstStyle/>
          <a:p>
            <a:endParaRPr lang="en-150"/>
          </a:p>
        </p:txBody>
      </p:sp>
      <p:sp>
        <p:nvSpPr>
          <p:cNvPr id="18" name="Text 16"/>
          <p:cNvSpPr/>
          <p:nvPr/>
        </p:nvSpPr>
        <p:spPr>
          <a:xfrm>
            <a:off x="365760" y="4005072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3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4041648"/>
            <a:ext cx="3474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de la solución — EP2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754880" y="1078992"/>
            <a:ext cx="457200" cy="475488"/>
          </a:xfrm>
          <a:prstGeom prst="rect">
            <a:avLst/>
          </a:prstGeom>
          <a:solidFill>
            <a:srgbClr val="D6E4F7"/>
          </a:solidFill>
          <a:ln w="12700">
            <a:solidFill>
              <a:srgbClr val="D6E4F7"/>
            </a:solidFill>
            <a:prstDash val="solid"/>
          </a:ln>
        </p:spPr>
        <p:txBody>
          <a:bodyPr/>
          <a:lstStyle/>
          <a:p>
            <a:endParaRPr lang="en-150"/>
          </a:p>
        </p:txBody>
      </p:sp>
      <p:sp>
        <p:nvSpPr>
          <p:cNvPr id="21" name="Text 19"/>
          <p:cNvSpPr/>
          <p:nvPr/>
        </p:nvSpPr>
        <p:spPr>
          <a:xfrm>
            <a:off x="4754880" y="1078992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3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303520" y="1115568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Ambiente de pruebas y backup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754880" y="1810512"/>
            <a:ext cx="457200" cy="475488"/>
          </a:xfrm>
          <a:prstGeom prst="rect">
            <a:avLst/>
          </a:prstGeom>
          <a:solidFill>
            <a:srgbClr val="D6E4F7"/>
          </a:solidFill>
          <a:ln w="12700">
            <a:solidFill>
              <a:srgbClr val="D6E4F7"/>
            </a:solidFill>
            <a:prstDash val="solid"/>
          </a:ln>
        </p:spPr>
        <p:txBody>
          <a:bodyPr/>
          <a:lstStyle/>
          <a:p>
            <a:endParaRPr lang="en-150"/>
          </a:p>
        </p:txBody>
      </p:sp>
      <p:sp>
        <p:nvSpPr>
          <p:cNvPr id="24" name="Text 22"/>
          <p:cNvSpPr/>
          <p:nvPr/>
        </p:nvSpPr>
        <p:spPr>
          <a:xfrm>
            <a:off x="4754880" y="1810512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3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5303520" y="1847088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de desarrollo funcional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754880" y="2542032"/>
            <a:ext cx="457200" cy="475488"/>
          </a:xfrm>
          <a:prstGeom prst="rect">
            <a:avLst/>
          </a:prstGeom>
          <a:solidFill>
            <a:srgbClr val="D6E4F7"/>
          </a:solidFill>
          <a:ln w="12700">
            <a:solidFill>
              <a:srgbClr val="D6E4F7"/>
            </a:solidFill>
            <a:prstDash val="solid"/>
          </a:ln>
        </p:spPr>
        <p:txBody>
          <a:bodyPr/>
          <a:lstStyle/>
          <a:p>
            <a:endParaRPr lang="en-150"/>
          </a:p>
        </p:txBody>
      </p:sp>
      <p:sp>
        <p:nvSpPr>
          <p:cNvPr id="27" name="Text 25"/>
          <p:cNvSpPr/>
          <p:nvPr/>
        </p:nvSpPr>
        <p:spPr>
          <a:xfrm>
            <a:off x="4754880" y="2542032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3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5303520" y="2578608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y resultados de pruebas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754880" y="3273552"/>
            <a:ext cx="457200" cy="475488"/>
          </a:xfrm>
          <a:prstGeom prst="rect">
            <a:avLst/>
          </a:prstGeom>
          <a:solidFill>
            <a:srgbClr val="D6E4F7"/>
          </a:solidFill>
          <a:ln w="12700">
            <a:solidFill>
              <a:srgbClr val="D6E4F7"/>
            </a:solidFill>
            <a:prstDash val="solid"/>
          </a:ln>
        </p:spPr>
        <p:txBody>
          <a:bodyPr/>
          <a:lstStyle/>
          <a:p>
            <a:endParaRPr lang="en-150"/>
          </a:p>
        </p:txBody>
      </p:sp>
      <p:sp>
        <p:nvSpPr>
          <p:cNvPr id="30" name="Text 28"/>
          <p:cNvSpPr/>
          <p:nvPr/>
        </p:nvSpPr>
        <p:spPr>
          <a:xfrm>
            <a:off x="4754880" y="3273552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3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5303520" y="3310128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Conclusiones y lecciones aprendidas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4526280" y="1078992"/>
            <a:ext cx="27432" cy="384048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15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0" cy="5143500"/>
          </a:xfrm>
          <a:prstGeom prst="rect">
            <a:avLst/>
          </a:prstGeom>
          <a:solidFill>
            <a:srgbClr val="003D7E"/>
          </a:solidFill>
          <a:ln w="12700">
            <a:solidFill>
              <a:srgbClr val="003D7E"/>
            </a:solidFill>
            <a:prstDash val="solid"/>
          </a:ln>
        </p:spPr>
        <p:txBody>
          <a:bodyPr/>
          <a:lstStyle/>
          <a:p>
            <a:endParaRPr lang="en-150"/>
          </a:p>
        </p:txBody>
      </p:sp>
      <p:sp>
        <p:nvSpPr>
          <p:cNvPr id="3" name="Text 1"/>
          <p:cNvSpPr/>
          <p:nvPr/>
        </p:nvSpPr>
        <p:spPr>
          <a:xfrm>
            <a:off x="274320" y="36576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CFD SERVICIOS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274320" y="100584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Empresa chilena de limpieza y aseo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profesional para hogares, empresas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condominios.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2103120"/>
            <a:ext cx="1143000" cy="347472"/>
          </a:xfrm>
          <a:prstGeom prst="rect">
            <a:avLst/>
          </a:prstGeom>
          <a:solidFill>
            <a:srgbClr val="0D2B5E"/>
          </a:solidFill>
          <a:ln w="12700">
            <a:solidFill>
              <a:srgbClr val="C8E600"/>
            </a:solidFill>
            <a:prstDash val="solid"/>
          </a:ln>
        </p:spPr>
        <p:txBody>
          <a:bodyPr/>
          <a:lstStyle/>
          <a:p>
            <a:endParaRPr lang="en-150"/>
          </a:p>
        </p:txBody>
      </p:sp>
      <p:sp>
        <p:nvSpPr>
          <p:cNvPr id="6" name="Text 4"/>
          <p:cNvSpPr/>
          <p:nvPr/>
        </p:nvSpPr>
        <p:spPr>
          <a:xfrm>
            <a:off x="274320" y="2103120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8E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Hogares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508760" y="2103120"/>
            <a:ext cx="1143000" cy="347472"/>
          </a:xfrm>
          <a:prstGeom prst="rect">
            <a:avLst/>
          </a:prstGeom>
          <a:solidFill>
            <a:srgbClr val="0D2B5E"/>
          </a:solidFill>
          <a:ln w="12700">
            <a:solidFill>
              <a:srgbClr val="C8E600"/>
            </a:solidFill>
            <a:prstDash val="solid"/>
          </a:ln>
        </p:spPr>
        <p:txBody>
          <a:bodyPr/>
          <a:lstStyle/>
          <a:p>
            <a:endParaRPr lang="en-150"/>
          </a:p>
        </p:txBody>
      </p:sp>
      <p:sp>
        <p:nvSpPr>
          <p:cNvPr id="8" name="Text 6"/>
          <p:cNvSpPr/>
          <p:nvPr/>
        </p:nvSpPr>
        <p:spPr>
          <a:xfrm>
            <a:off x="1508760" y="2103120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8E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Empresas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0" y="2103120"/>
            <a:ext cx="1143000" cy="347472"/>
          </a:xfrm>
          <a:prstGeom prst="rect">
            <a:avLst/>
          </a:prstGeom>
          <a:solidFill>
            <a:srgbClr val="0D2B5E"/>
          </a:solidFill>
          <a:ln w="12700">
            <a:solidFill>
              <a:srgbClr val="C8E600"/>
            </a:solidFill>
            <a:prstDash val="solid"/>
          </a:ln>
        </p:spPr>
        <p:txBody>
          <a:bodyPr/>
          <a:lstStyle/>
          <a:p>
            <a:endParaRPr lang="en-150"/>
          </a:p>
        </p:txBody>
      </p:sp>
      <p:sp>
        <p:nvSpPr>
          <p:cNvPr id="10" name="Text 8"/>
          <p:cNvSpPr/>
          <p:nvPr/>
        </p:nvSpPr>
        <p:spPr>
          <a:xfrm>
            <a:off x="2743200" y="2103120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8E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Condominios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74320" y="26517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Sitio actual: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74320" y="292608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cfdservicios.cl — PHP estático, solo informativo,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transacciones, sin agenda online.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389120" y="27432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3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problema central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4389120" y="749808"/>
            <a:ext cx="4480560" cy="36576"/>
          </a:xfrm>
          <a:prstGeom prst="rect">
            <a:avLst/>
          </a:prstGeom>
          <a:solidFill>
            <a:srgbClr val="C8E600"/>
          </a:solidFill>
          <a:ln w="12700">
            <a:solidFill>
              <a:srgbClr val="C8E600"/>
            </a:solidFill>
            <a:prstDash val="solid"/>
          </a:ln>
        </p:spPr>
        <p:txBody>
          <a:bodyPr/>
          <a:lstStyle/>
          <a:p>
            <a:endParaRPr lang="en-150"/>
          </a:p>
        </p:txBody>
      </p:sp>
      <p:sp>
        <p:nvSpPr>
          <p:cNvPr id="15" name="Shape 13"/>
          <p:cNvSpPr/>
          <p:nvPr/>
        </p:nvSpPr>
        <p:spPr>
          <a:xfrm>
            <a:off x="4389120" y="960120"/>
            <a:ext cx="4480560" cy="1078992"/>
          </a:xfrm>
          <a:prstGeom prst="rect">
            <a:avLst/>
          </a:prstGeom>
          <a:solidFill>
            <a:srgbClr val="F4F7FA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150"/>
          </a:p>
        </p:txBody>
      </p:sp>
      <p:sp>
        <p:nvSpPr>
          <p:cNvPr id="16" name="Shape 14"/>
          <p:cNvSpPr/>
          <p:nvPr/>
        </p:nvSpPr>
        <p:spPr>
          <a:xfrm>
            <a:off x="4389120" y="960120"/>
            <a:ext cx="73152" cy="1078992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n-150"/>
          </a:p>
        </p:txBody>
      </p:sp>
      <p:sp>
        <p:nvSpPr>
          <p:cNvPr id="17" name="Text 15"/>
          <p:cNvSpPr/>
          <p:nvPr/>
        </p:nvSpPr>
        <p:spPr>
          <a:xfrm>
            <a:off x="4572000" y="109728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3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Captación manual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72000" y="1417320"/>
            <a:ext cx="4114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Ventas exclusivamente por teléfono o contacto presencial.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389120" y="2221992"/>
            <a:ext cx="4480560" cy="1078992"/>
          </a:xfrm>
          <a:prstGeom prst="rect">
            <a:avLst/>
          </a:prstGeom>
          <a:solidFill>
            <a:srgbClr val="F4F7FA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150"/>
          </a:p>
        </p:txBody>
      </p:sp>
      <p:sp>
        <p:nvSpPr>
          <p:cNvPr id="20" name="Shape 18"/>
          <p:cNvSpPr/>
          <p:nvPr/>
        </p:nvSpPr>
        <p:spPr>
          <a:xfrm>
            <a:off x="4389120" y="2221992"/>
            <a:ext cx="73152" cy="1078992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n-150"/>
          </a:p>
        </p:txBody>
      </p:sp>
      <p:sp>
        <p:nvSpPr>
          <p:cNvPr id="21" name="Text 19"/>
          <p:cNvSpPr/>
          <p:nvPr/>
        </p:nvSpPr>
        <p:spPr>
          <a:xfrm>
            <a:off x="4572000" y="2359152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3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agenda online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72000" y="2679192"/>
            <a:ext cx="4114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Coordinación de horarios vía llamada, sin visibilidad de disponibilidad.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389120" y="3483864"/>
            <a:ext cx="4480560" cy="1078992"/>
          </a:xfrm>
          <a:prstGeom prst="rect">
            <a:avLst/>
          </a:prstGeom>
          <a:solidFill>
            <a:srgbClr val="F4F7FA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150"/>
          </a:p>
        </p:txBody>
      </p:sp>
      <p:sp>
        <p:nvSpPr>
          <p:cNvPr id="24" name="Shape 22"/>
          <p:cNvSpPr/>
          <p:nvPr/>
        </p:nvSpPr>
        <p:spPr>
          <a:xfrm>
            <a:off x="4389120" y="3483864"/>
            <a:ext cx="73152" cy="1078992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n-150"/>
          </a:p>
        </p:txBody>
      </p:sp>
      <p:sp>
        <p:nvSpPr>
          <p:cNvPr id="25" name="Text 23"/>
          <p:cNvSpPr/>
          <p:nvPr/>
        </p:nvSpPr>
        <p:spPr>
          <a:xfrm>
            <a:off x="4572000" y="3621024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3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confirmación automática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572000" y="3941064"/>
            <a:ext cx="4114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Proceso de confirmación 100% manual, propenso a errores.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389120" y="4681728"/>
            <a:ext cx="4480560" cy="347472"/>
          </a:xfrm>
          <a:prstGeom prst="rect">
            <a:avLst/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</p:spPr>
        <p:txBody>
          <a:bodyPr/>
          <a:lstStyle/>
          <a:p>
            <a:endParaRPr lang="en-150"/>
          </a:p>
        </p:txBody>
      </p:sp>
      <p:sp>
        <p:nvSpPr>
          <p:cNvPr id="28" name="Text 26"/>
          <p:cNvSpPr/>
          <p:nvPr/>
        </p:nvSpPr>
        <p:spPr>
          <a:xfrm>
            <a:off x="4434840" y="4681728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canal digital transaccional = pérdida de competitividad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3D7E"/>
          </a:solidFill>
          <a:ln w="12700">
            <a:solidFill>
              <a:srgbClr val="003D7E"/>
            </a:solidFill>
            <a:prstDash val="solid"/>
          </a:ln>
        </p:spPr>
        <p:txBody>
          <a:bodyPr/>
          <a:lstStyle/>
          <a:p>
            <a:endParaRPr lang="en-150"/>
          </a:p>
        </p:txBody>
      </p:sp>
      <p:sp>
        <p:nvSpPr>
          <p:cNvPr id="3" name="Text 1"/>
          <p:cNvSpPr/>
          <p:nvPr/>
        </p:nvSpPr>
        <p:spPr>
          <a:xfrm>
            <a:off x="274320" y="4572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de Causas — Diagrama de Ishikawa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949440" y="1920240"/>
            <a:ext cx="2011680" cy="1280160"/>
          </a:xfrm>
          <a:prstGeom prst="rect">
            <a:avLst/>
          </a:prstGeom>
          <a:solidFill>
            <a:srgbClr val="DC2626"/>
          </a:solidFill>
          <a:ln w="12700">
            <a:solidFill>
              <a:srgbClr val="991B1B"/>
            </a:solidFill>
            <a:prstDash val="solid"/>
          </a:ln>
          <a:effectLst>
            <a:outerShdw blurRad="177800" dist="635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150"/>
          </a:p>
        </p:txBody>
      </p:sp>
      <p:sp>
        <p:nvSpPr>
          <p:cNvPr id="5" name="Text 3"/>
          <p:cNvSpPr/>
          <p:nvPr/>
        </p:nvSpPr>
        <p:spPr>
          <a:xfrm>
            <a:off x="6949440" y="1920240"/>
            <a:ext cx="2011680" cy="128016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CFD no puede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escalar digitalmente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097280" y="2532888"/>
            <a:ext cx="5852160" cy="6400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150"/>
          </a:p>
        </p:txBody>
      </p:sp>
      <p:sp>
        <p:nvSpPr>
          <p:cNvPr id="7" name="Shape 5"/>
          <p:cNvSpPr/>
          <p:nvPr/>
        </p:nvSpPr>
        <p:spPr>
          <a:xfrm>
            <a:off x="914400" y="960120"/>
            <a:ext cx="1828800" cy="1005840"/>
          </a:xfrm>
          <a:prstGeom prst="rect">
            <a:avLst/>
          </a:prstGeom>
          <a:solidFill>
            <a:srgbClr val="003D7E"/>
          </a:solidFill>
          <a:ln w="12700">
            <a:solidFill>
              <a:srgbClr val="003D7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150"/>
          </a:p>
        </p:txBody>
      </p:sp>
      <p:sp>
        <p:nvSpPr>
          <p:cNvPr id="8" name="Text 6"/>
          <p:cNvSpPr/>
          <p:nvPr/>
        </p:nvSpPr>
        <p:spPr>
          <a:xfrm>
            <a:off x="914400" y="1014984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Tecnología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" y="132588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Sitio PHP sin módulos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transaccionales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828800" y="1965960"/>
            <a:ext cx="0" cy="566928"/>
          </a:xfrm>
          <a:prstGeom prst="line">
            <a:avLst/>
          </a:prstGeom>
          <a:noFill/>
          <a:ln w="19050">
            <a:solidFill>
              <a:srgbClr val="003D7E"/>
            </a:solidFill>
            <a:prstDash val="solid"/>
          </a:ln>
        </p:spPr>
        <p:txBody>
          <a:bodyPr/>
          <a:lstStyle/>
          <a:p>
            <a:endParaRPr lang="en-150"/>
          </a:p>
        </p:txBody>
      </p:sp>
      <p:sp>
        <p:nvSpPr>
          <p:cNvPr id="11" name="Shape 9"/>
          <p:cNvSpPr/>
          <p:nvPr/>
        </p:nvSpPr>
        <p:spPr>
          <a:xfrm>
            <a:off x="2926080" y="960120"/>
            <a:ext cx="1828800" cy="1005840"/>
          </a:xfrm>
          <a:prstGeom prst="rect">
            <a:avLst/>
          </a:prstGeom>
          <a:solidFill>
            <a:srgbClr val="0056B3"/>
          </a:solidFill>
          <a:ln w="12700">
            <a:solidFill>
              <a:srgbClr val="0056B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150"/>
          </a:p>
        </p:txBody>
      </p:sp>
      <p:sp>
        <p:nvSpPr>
          <p:cNvPr id="12" name="Text 10"/>
          <p:cNvSpPr/>
          <p:nvPr/>
        </p:nvSpPr>
        <p:spPr>
          <a:xfrm>
            <a:off x="2926080" y="1014984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Procesos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926080" y="132588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Agendamiento manual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teléfono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840480" y="1965960"/>
            <a:ext cx="0" cy="566928"/>
          </a:xfrm>
          <a:prstGeom prst="line">
            <a:avLst/>
          </a:prstGeom>
          <a:noFill/>
          <a:ln w="19050">
            <a:solidFill>
              <a:srgbClr val="0056B3"/>
            </a:solidFill>
            <a:prstDash val="solid"/>
          </a:ln>
        </p:spPr>
        <p:txBody>
          <a:bodyPr/>
          <a:lstStyle/>
          <a:p>
            <a:endParaRPr lang="en-150"/>
          </a:p>
        </p:txBody>
      </p:sp>
      <p:sp>
        <p:nvSpPr>
          <p:cNvPr id="15" name="Shape 13"/>
          <p:cNvSpPr/>
          <p:nvPr/>
        </p:nvSpPr>
        <p:spPr>
          <a:xfrm>
            <a:off x="914400" y="3291840"/>
            <a:ext cx="1828800" cy="10058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150"/>
          </a:p>
        </p:txBody>
      </p:sp>
      <p:sp>
        <p:nvSpPr>
          <p:cNvPr id="16" name="Text 14"/>
          <p:cNvSpPr/>
          <p:nvPr/>
        </p:nvSpPr>
        <p:spPr>
          <a:xfrm>
            <a:off x="914400" y="3346704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Comercial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14400" y="365760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catálogo ni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historial de clientes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828800" y="3291840"/>
            <a:ext cx="0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150"/>
          </a:p>
        </p:txBody>
      </p:sp>
      <p:sp>
        <p:nvSpPr>
          <p:cNvPr id="19" name="Shape 17"/>
          <p:cNvSpPr/>
          <p:nvPr/>
        </p:nvSpPr>
        <p:spPr>
          <a:xfrm>
            <a:off x="2926080" y="3291840"/>
            <a:ext cx="1828800" cy="1005840"/>
          </a:xfrm>
          <a:prstGeom prst="rect">
            <a:avLst/>
          </a:prstGeom>
          <a:solidFill>
            <a:srgbClr val="6B21A8"/>
          </a:solidFill>
          <a:ln w="12700">
            <a:solidFill>
              <a:srgbClr val="6B21A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150"/>
          </a:p>
        </p:txBody>
      </p:sp>
      <p:sp>
        <p:nvSpPr>
          <p:cNvPr id="20" name="Text 18"/>
          <p:cNvSpPr/>
          <p:nvPr/>
        </p:nvSpPr>
        <p:spPr>
          <a:xfrm>
            <a:off x="2926080" y="3346704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2926080" y="365760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 pequeño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desbordado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840480" y="3291840"/>
            <a:ext cx="0" cy="0"/>
          </a:xfrm>
          <a:prstGeom prst="line">
            <a:avLst/>
          </a:prstGeom>
          <a:noFill/>
          <a:ln w="19050">
            <a:solidFill>
              <a:srgbClr val="6B21A8"/>
            </a:solidFill>
            <a:prstDash val="solid"/>
          </a:ln>
        </p:spPr>
        <p:txBody>
          <a:bodyPr/>
          <a:lstStyle/>
          <a:p>
            <a:endParaRPr lang="en-150"/>
          </a:p>
        </p:txBody>
      </p:sp>
      <p:sp>
        <p:nvSpPr>
          <p:cNvPr id="23" name="Shape 21"/>
          <p:cNvSpPr/>
          <p:nvPr/>
        </p:nvSpPr>
        <p:spPr>
          <a:xfrm>
            <a:off x="274320" y="4480560"/>
            <a:ext cx="8595360" cy="502920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  <p:txBody>
          <a:bodyPr/>
          <a:lstStyle/>
          <a:p>
            <a:endParaRPr lang="en-150"/>
          </a:p>
        </p:txBody>
      </p:sp>
      <p:sp>
        <p:nvSpPr>
          <p:cNvPr id="24" name="Text 22"/>
          <p:cNvSpPr/>
          <p:nvPr/>
        </p:nvSpPr>
        <p:spPr>
          <a:xfrm>
            <a:off x="365760" y="448056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Efecto: Pérdida de competitividad · Imposible escalar sin tecnología transaccional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3D7E"/>
          </a:solidFill>
          <a:ln w="12700">
            <a:solidFill>
              <a:srgbClr val="003D7E"/>
            </a:solidFill>
            <a:prstDash val="solid"/>
          </a:ln>
        </p:spPr>
        <p:txBody>
          <a:bodyPr/>
          <a:lstStyle/>
          <a:p>
            <a:endParaRPr lang="en-150"/>
          </a:p>
        </p:txBody>
      </p:sp>
      <p:sp>
        <p:nvSpPr>
          <p:cNvPr id="3" name="Text 1"/>
          <p:cNvSpPr/>
          <p:nvPr/>
        </p:nvSpPr>
        <p:spPr>
          <a:xfrm>
            <a:off x="274320" y="4572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sitio informativo a plataforma transaccional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2743200" cy="3566160"/>
          </a:xfrm>
          <a:prstGeom prst="rect">
            <a:avLst/>
          </a:prstGeom>
          <a:solidFill>
            <a:srgbClr val="FFF5F5"/>
          </a:solidFill>
          <a:ln w="12700">
            <a:solidFill>
              <a:srgbClr val="FECAC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15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2743200" cy="4114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150"/>
          </a:p>
        </p:txBody>
      </p:sp>
      <p:sp>
        <p:nvSpPr>
          <p:cNvPr id="6" name="Text 4"/>
          <p:cNvSpPr/>
          <p:nvPr/>
        </p:nvSpPr>
        <p:spPr>
          <a:xfrm>
            <a:off x="274320" y="96012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11480" y="150876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Sitio PHP estático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" y="1984248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Solo informativo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1480" y="2459736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Sin login ni registro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11480" y="2935224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Sin base de datos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11480" y="3410712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Coordinación telefónica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11480" y="388620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0% automatización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91840" y="2377440"/>
            <a:ext cx="1005840" cy="91440"/>
          </a:xfrm>
          <a:prstGeom prst="rect">
            <a:avLst/>
          </a:prstGeom>
          <a:solidFill>
            <a:srgbClr val="C8E600"/>
          </a:solidFill>
          <a:ln w="12700">
            <a:solidFill>
              <a:srgbClr val="C8E600"/>
            </a:solidFill>
            <a:prstDash val="solid"/>
          </a:ln>
        </p:spPr>
        <p:txBody>
          <a:bodyPr/>
          <a:lstStyle/>
          <a:p>
            <a:endParaRPr lang="en-150"/>
          </a:p>
        </p:txBody>
      </p:sp>
      <p:sp>
        <p:nvSpPr>
          <p:cNvPr id="14" name="Shape 12"/>
          <p:cNvSpPr/>
          <p:nvPr/>
        </p:nvSpPr>
        <p:spPr>
          <a:xfrm>
            <a:off x="3931920" y="2176272"/>
            <a:ext cx="365760" cy="493776"/>
          </a:xfrm>
          <a:prstGeom prst="rect">
            <a:avLst/>
          </a:prstGeom>
          <a:solidFill>
            <a:srgbClr val="C8E600"/>
          </a:solidFill>
          <a:ln w="12700">
            <a:solidFill>
              <a:srgbClr val="C8E600"/>
            </a:solidFill>
            <a:prstDash val="solid"/>
          </a:ln>
        </p:spPr>
        <p:txBody>
          <a:bodyPr/>
          <a:lstStyle/>
          <a:p>
            <a:endParaRPr lang="en-150"/>
          </a:p>
        </p:txBody>
      </p:sp>
      <p:sp>
        <p:nvSpPr>
          <p:cNvPr id="15" name="Text 13"/>
          <p:cNvSpPr/>
          <p:nvPr/>
        </p:nvSpPr>
        <p:spPr>
          <a:xfrm>
            <a:off x="3246120" y="214884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C8E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3182112" y="2670048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3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663440" y="960120"/>
            <a:ext cx="4206240" cy="3566160"/>
          </a:xfrm>
          <a:prstGeom prst="rect">
            <a:avLst/>
          </a:prstGeom>
          <a:solidFill>
            <a:srgbClr val="EBF3FF"/>
          </a:solidFill>
          <a:ln w="12700">
            <a:solidFill>
              <a:srgbClr val="D6E4F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150"/>
          </a:p>
        </p:txBody>
      </p:sp>
      <p:sp>
        <p:nvSpPr>
          <p:cNvPr id="18" name="Shape 16"/>
          <p:cNvSpPr/>
          <p:nvPr/>
        </p:nvSpPr>
        <p:spPr>
          <a:xfrm>
            <a:off x="4663440" y="960120"/>
            <a:ext cx="4206240" cy="41148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150"/>
          </a:p>
        </p:txBody>
      </p:sp>
      <p:sp>
        <p:nvSpPr>
          <p:cNvPr id="19" name="Text 17"/>
          <p:cNvSpPr/>
          <p:nvPr/>
        </p:nvSpPr>
        <p:spPr>
          <a:xfrm>
            <a:off x="4663440" y="96012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AHORA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800600" y="14813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3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Público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800600" y="178308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Catálogo interactivo de servicios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800600" y="219456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Agenda horaria en tiempo real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800600" y="260604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Registro y login JWT seguro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800600" y="301752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Confirmación con número CFD-{id}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812280" y="14813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3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Admin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812280" y="178308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Dashboard de reservas expandible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812280" y="219456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Calendario de operaciones diario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812280" y="260604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Directorio de clientes (tel + dir)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812280" y="301752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Cancelación y liberación de cupos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0" y="4736592"/>
            <a:ext cx="9144000" cy="402336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150"/>
          </a:p>
        </p:txBody>
      </p:sp>
      <p:sp>
        <p:nvSpPr>
          <p:cNvPr id="31" name="Text 29"/>
          <p:cNvSpPr/>
          <p:nvPr/>
        </p:nvSpPr>
        <p:spPr>
          <a:xfrm>
            <a:off x="0" y="4736592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8E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19656" y="4800600"/>
            <a:ext cx="18288" cy="27432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150"/>
          </a:p>
        </p:txBody>
      </p:sp>
      <p:sp>
        <p:nvSpPr>
          <p:cNvPr id="33" name="Text 31"/>
          <p:cNvSpPr/>
          <p:nvPr/>
        </p:nvSpPr>
        <p:spPr>
          <a:xfrm>
            <a:off x="1828800" y="4736592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8E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3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3648456" y="4800600"/>
            <a:ext cx="18288" cy="27432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150"/>
          </a:p>
        </p:txBody>
      </p:sp>
      <p:sp>
        <p:nvSpPr>
          <p:cNvPr id="35" name="Text 33"/>
          <p:cNvSpPr/>
          <p:nvPr/>
        </p:nvSpPr>
        <p:spPr>
          <a:xfrm>
            <a:off x="3657600" y="4736592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8E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8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5477256" y="4800600"/>
            <a:ext cx="18288" cy="27432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150"/>
          </a:p>
        </p:txBody>
      </p:sp>
      <p:sp>
        <p:nvSpPr>
          <p:cNvPr id="37" name="Text 35"/>
          <p:cNvSpPr/>
          <p:nvPr/>
        </p:nvSpPr>
        <p:spPr>
          <a:xfrm>
            <a:off x="5486400" y="4736592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8E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Security + JWT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7306056" y="4800600"/>
            <a:ext cx="18288" cy="27432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150"/>
          </a:p>
        </p:txBody>
      </p:sp>
      <p:sp>
        <p:nvSpPr>
          <p:cNvPr id="39" name="Text 37"/>
          <p:cNvSpPr/>
          <p:nvPr/>
        </p:nvSpPr>
        <p:spPr>
          <a:xfrm>
            <a:off x="7315200" y="4736592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8E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 + Railway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5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3D7E"/>
          </a:solidFill>
          <a:ln w="12700">
            <a:solidFill>
              <a:srgbClr val="003D7E"/>
            </a:solidFill>
            <a:prstDash val="solid"/>
          </a:ln>
        </p:spPr>
        <p:txBody>
          <a:bodyPr/>
          <a:lstStyle/>
          <a:p>
            <a:endParaRPr lang="en-150"/>
          </a:p>
        </p:txBody>
      </p:sp>
      <p:sp>
        <p:nvSpPr>
          <p:cNvPr id="3" name="Text 1"/>
          <p:cNvSpPr/>
          <p:nvPr/>
        </p:nvSpPr>
        <p:spPr>
          <a:xfrm>
            <a:off x="274320" y="4572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Objetivos y Alcance del Proyecto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8595360" cy="777240"/>
          </a:xfrm>
          <a:prstGeom prst="rect">
            <a:avLst/>
          </a:prstGeom>
          <a:solidFill>
            <a:srgbClr val="0D1B35"/>
          </a:solidFill>
          <a:ln w="12700">
            <a:solidFill>
              <a:srgbClr val="C8E6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15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91440" cy="777240"/>
          </a:xfrm>
          <a:prstGeom prst="rect">
            <a:avLst/>
          </a:prstGeom>
          <a:solidFill>
            <a:srgbClr val="C8E600"/>
          </a:solidFill>
          <a:ln w="12700">
            <a:solidFill>
              <a:srgbClr val="C8E600"/>
            </a:solidFill>
            <a:prstDash val="solid"/>
          </a:ln>
        </p:spPr>
        <p:txBody>
          <a:bodyPr/>
          <a:lstStyle/>
          <a:p>
            <a:endParaRPr lang="en-150"/>
          </a:p>
        </p:txBody>
      </p:sp>
      <p:sp>
        <p:nvSpPr>
          <p:cNvPr id="6" name="Text 4"/>
          <p:cNvSpPr/>
          <p:nvPr/>
        </p:nvSpPr>
        <p:spPr>
          <a:xfrm>
            <a:off x="502920" y="10058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8E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General: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128016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Desarrollar e implementar una plataforma web Fullstack que reemplace el sitio informativo por un sistema de agendamiento online.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4320" y="1920240"/>
            <a:ext cx="4160520" cy="914400"/>
          </a:xfrm>
          <a:prstGeom prst="rect">
            <a:avLst/>
          </a:prstGeom>
          <a:solidFill>
            <a:srgbClr val="0D1B35"/>
          </a:solidFill>
          <a:ln w="12700">
            <a:solidFill>
              <a:srgbClr val="0056B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150"/>
          </a:p>
        </p:txBody>
      </p:sp>
      <p:sp>
        <p:nvSpPr>
          <p:cNvPr id="9" name="Text 7"/>
          <p:cNvSpPr/>
          <p:nvPr/>
        </p:nvSpPr>
        <p:spPr>
          <a:xfrm>
            <a:off x="274320" y="1920240"/>
            <a:ext cx="6583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5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OE1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932688" y="1920240"/>
            <a:ext cx="36576" cy="914400"/>
          </a:xfrm>
          <a:prstGeom prst="rect">
            <a:avLst/>
          </a:prstGeom>
          <a:solidFill>
            <a:srgbClr val="0056B3"/>
          </a:solidFill>
          <a:ln w="12700">
            <a:solidFill>
              <a:srgbClr val="0056B3"/>
            </a:solidFill>
            <a:prstDash val="solid"/>
          </a:ln>
        </p:spPr>
        <p:txBody>
          <a:bodyPr/>
          <a:lstStyle/>
          <a:p>
            <a:endParaRPr lang="en-150"/>
          </a:p>
        </p:txBody>
      </p:sp>
      <p:sp>
        <p:nvSpPr>
          <p:cNvPr id="11" name="Text 9"/>
          <p:cNvSpPr/>
          <p:nvPr/>
        </p:nvSpPr>
        <p:spPr>
          <a:xfrm>
            <a:off x="1051560" y="210312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Catálogo con disponibilidad horaria en tiempo real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709160" y="1920240"/>
            <a:ext cx="4160520" cy="914400"/>
          </a:xfrm>
          <a:prstGeom prst="rect">
            <a:avLst/>
          </a:prstGeom>
          <a:solidFill>
            <a:srgbClr val="0D1B35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150"/>
          </a:p>
        </p:txBody>
      </p:sp>
      <p:sp>
        <p:nvSpPr>
          <p:cNvPr id="13" name="Text 11"/>
          <p:cNvSpPr/>
          <p:nvPr/>
        </p:nvSpPr>
        <p:spPr>
          <a:xfrm>
            <a:off x="4709160" y="1920240"/>
            <a:ext cx="6583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OE2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5367528" y="1920240"/>
            <a:ext cx="36576" cy="9144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150"/>
          </a:p>
        </p:txBody>
      </p:sp>
      <p:sp>
        <p:nvSpPr>
          <p:cNvPr id="15" name="Text 13"/>
          <p:cNvSpPr/>
          <p:nvPr/>
        </p:nvSpPr>
        <p:spPr>
          <a:xfrm>
            <a:off x="5486400" y="210312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Agendamiento y confirmación vinculado a cuentas de usuario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74320" y="2944368"/>
            <a:ext cx="4160520" cy="914400"/>
          </a:xfrm>
          <a:prstGeom prst="rect">
            <a:avLst/>
          </a:prstGeom>
          <a:solidFill>
            <a:srgbClr val="0D1B35"/>
          </a:solidFill>
          <a:ln w="12700">
            <a:solidFill>
              <a:srgbClr val="6B21A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150"/>
          </a:p>
        </p:txBody>
      </p:sp>
      <p:sp>
        <p:nvSpPr>
          <p:cNvPr id="17" name="Text 15"/>
          <p:cNvSpPr/>
          <p:nvPr/>
        </p:nvSpPr>
        <p:spPr>
          <a:xfrm>
            <a:off x="274320" y="2944368"/>
            <a:ext cx="6583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6B2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OE3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932688" y="2944368"/>
            <a:ext cx="36576" cy="914400"/>
          </a:xfrm>
          <a:prstGeom prst="rect">
            <a:avLst/>
          </a:prstGeom>
          <a:solidFill>
            <a:srgbClr val="6B21A8"/>
          </a:solidFill>
          <a:ln w="12700">
            <a:solidFill>
              <a:srgbClr val="6B21A8"/>
            </a:solidFill>
            <a:prstDash val="solid"/>
          </a:ln>
        </p:spPr>
        <p:txBody>
          <a:bodyPr/>
          <a:lstStyle/>
          <a:p>
            <a:endParaRPr lang="en-150"/>
          </a:p>
        </p:txBody>
      </p:sp>
      <p:sp>
        <p:nvSpPr>
          <p:cNvPr id="19" name="Text 17"/>
          <p:cNvSpPr/>
          <p:nvPr/>
        </p:nvSpPr>
        <p:spPr>
          <a:xfrm>
            <a:off x="1051560" y="3127248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administrativo para gestión de citas y clientes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709160" y="2944368"/>
            <a:ext cx="4160520" cy="914400"/>
          </a:xfrm>
          <a:prstGeom prst="rect">
            <a:avLst/>
          </a:prstGeom>
          <a:solidFill>
            <a:srgbClr val="0D1B35"/>
          </a:solidFill>
          <a:ln w="12700">
            <a:solidFill>
              <a:srgbClr val="EA580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150"/>
          </a:p>
        </p:txBody>
      </p:sp>
      <p:sp>
        <p:nvSpPr>
          <p:cNvPr id="21" name="Text 19"/>
          <p:cNvSpPr/>
          <p:nvPr/>
        </p:nvSpPr>
        <p:spPr>
          <a:xfrm>
            <a:off x="4709160" y="2944368"/>
            <a:ext cx="6583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OE4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5367528" y="2944368"/>
            <a:ext cx="36576" cy="91440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n-150"/>
          </a:p>
        </p:txBody>
      </p:sp>
      <p:sp>
        <p:nvSpPr>
          <p:cNvPr id="23" name="Text 21"/>
          <p:cNvSpPr/>
          <p:nvPr/>
        </p:nvSpPr>
        <p:spPr>
          <a:xfrm>
            <a:off x="5486400" y="3127248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Despliegue Cloud: Vercel + Railway + DNS cfdservicios.cl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274320" y="4069080"/>
            <a:ext cx="8595360" cy="502920"/>
          </a:xfrm>
          <a:prstGeom prst="rect">
            <a:avLst/>
          </a:prstGeom>
          <a:solidFill>
            <a:srgbClr val="1A0505"/>
          </a:solidFill>
          <a:ln w="12700">
            <a:solidFill>
              <a:srgbClr val="7F1D1D"/>
            </a:solidFill>
            <a:prstDash val="solid"/>
          </a:ln>
        </p:spPr>
        <p:txBody>
          <a:bodyPr/>
          <a:lstStyle/>
          <a:p>
            <a:endParaRPr lang="en-150"/>
          </a:p>
        </p:txBody>
      </p:sp>
      <p:sp>
        <p:nvSpPr>
          <p:cNvPr id="25" name="Text 23"/>
          <p:cNvSpPr/>
          <p:nvPr/>
        </p:nvSpPr>
        <p:spPr>
          <a:xfrm>
            <a:off x="457200" y="40873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Fuera del alcance: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011680" y="4133088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Inventario físico de insumos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297680" y="4133088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Integración SII / ERP contable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583680" y="4133088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Aplicación móvil nativa (iOS/Android)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3D7E"/>
          </a:solidFill>
          <a:ln w="12700">
            <a:solidFill>
              <a:srgbClr val="003D7E"/>
            </a:solidFill>
            <a:prstDash val="solid"/>
          </a:ln>
        </p:spPr>
        <p:txBody>
          <a:bodyPr/>
          <a:lstStyle/>
          <a:p>
            <a:endParaRPr lang="en-150"/>
          </a:p>
        </p:txBody>
      </p:sp>
      <p:sp>
        <p:nvSpPr>
          <p:cNvPr id="3" name="Text 1"/>
          <p:cNvSpPr/>
          <p:nvPr/>
        </p:nvSpPr>
        <p:spPr>
          <a:xfrm>
            <a:off x="274320" y="4572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Tecnológico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2743200" cy="4572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150"/>
          </a:p>
        </p:txBody>
      </p:sp>
      <p:sp>
        <p:nvSpPr>
          <p:cNvPr id="5" name="Text 3"/>
          <p:cNvSpPr/>
          <p:nvPr/>
        </p:nvSpPr>
        <p:spPr>
          <a:xfrm>
            <a:off x="274320" y="9601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74320" y="1572768"/>
            <a:ext cx="27432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150"/>
          </a:p>
        </p:txBody>
      </p:sp>
      <p:sp>
        <p:nvSpPr>
          <p:cNvPr id="7" name="Shape 5"/>
          <p:cNvSpPr/>
          <p:nvPr/>
        </p:nvSpPr>
        <p:spPr>
          <a:xfrm>
            <a:off x="274320" y="1572768"/>
            <a:ext cx="73152" cy="65836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150"/>
          </a:p>
        </p:txBody>
      </p:sp>
      <p:sp>
        <p:nvSpPr>
          <p:cNvPr id="8" name="Text 6"/>
          <p:cNvSpPr/>
          <p:nvPr/>
        </p:nvSpPr>
        <p:spPr>
          <a:xfrm>
            <a:off x="438912" y="1700784"/>
            <a:ext cx="2514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 + Vite 5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4320" y="2350008"/>
            <a:ext cx="27432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150"/>
          </a:p>
        </p:txBody>
      </p:sp>
      <p:sp>
        <p:nvSpPr>
          <p:cNvPr id="10" name="Shape 8"/>
          <p:cNvSpPr/>
          <p:nvPr/>
        </p:nvSpPr>
        <p:spPr>
          <a:xfrm>
            <a:off x="274320" y="2350008"/>
            <a:ext cx="73152" cy="65836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150"/>
          </a:p>
        </p:txBody>
      </p:sp>
      <p:sp>
        <p:nvSpPr>
          <p:cNvPr id="11" name="Text 9"/>
          <p:cNvSpPr/>
          <p:nvPr/>
        </p:nvSpPr>
        <p:spPr>
          <a:xfrm>
            <a:off x="438912" y="2478024"/>
            <a:ext cx="2514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Router DOM 6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" y="3127248"/>
            <a:ext cx="27432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150"/>
          </a:p>
        </p:txBody>
      </p:sp>
      <p:sp>
        <p:nvSpPr>
          <p:cNvPr id="13" name="Shape 11"/>
          <p:cNvSpPr/>
          <p:nvPr/>
        </p:nvSpPr>
        <p:spPr>
          <a:xfrm>
            <a:off x="274320" y="3127248"/>
            <a:ext cx="73152" cy="65836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150"/>
          </a:p>
        </p:txBody>
      </p:sp>
      <p:sp>
        <p:nvSpPr>
          <p:cNvPr id="14" name="Text 12"/>
          <p:cNvSpPr/>
          <p:nvPr/>
        </p:nvSpPr>
        <p:spPr>
          <a:xfrm>
            <a:off x="438912" y="3255264"/>
            <a:ext cx="2514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Axios + Interceptores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74320" y="3904488"/>
            <a:ext cx="27432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150"/>
          </a:p>
        </p:txBody>
      </p:sp>
      <p:sp>
        <p:nvSpPr>
          <p:cNvPr id="16" name="Shape 14"/>
          <p:cNvSpPr/>
          <p:nvPr/>
        </p:nvSpPr>
        <p:spPr>
          <a:xfrm>
            <a:off x="274320" y="3904488"/>
            <a:ext cx="73152" cy="65836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150"/>
          </a:p>
        </p:txBody>
      </p:sp>
      <p:sp>
        <p:nvSpPr>
          <p:cNvPr id="17" name="Text 15"/>
          <p:cNvSpPr/>
          <p:nvPr/>
        </p:nvSpPr>
        <p:spPr>
          <a:xfrm>
            <a:off x="438912" y="4032504"/>
            <a:ext cx="2514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 5.3 CDN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200400" y="960120"/>
            <a:ext cx="2743200" cy="4572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150"/>
          </a:p>
        </p:txBody>
      </p:sp>
      <p:sp>
        <p:nvSpPr>
          <p:cNvPr id="19" name="Text 17"/>
          <p:cNvSpPr/>
          <p:nvPr/>
        </p:nvSpPr>
        <p:spPr>
          <a:xfrm>
            <a:off x="3200400" y="9601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3200400" y="1572768"/>
            <a:ext cx="27432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150"/>
          </a:p>
        </p:txBody>
      </p:sp>
      <p:sp>
        <p:nvSpPr>
          <p:cNvPr id="21" name="Shape 19"/>
          <p:cNvSpPr/>
          <p:nvPr/>
        </p:nvSpPr>
        <p:spPr>
          <a:xfrm>
            <a:off x="3200400" y="1572768"/>
            <a:ext cx="73152" cy="65836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150"/>
          </a:p>
        </p:txBody>
      </p:sp>
      <p:sp>
        <p:nvSpPr>
          <p:cNvPr id="22" name="Text 20"/>
          <p:cNvSpPr/>
          <p:nvPr/>
        </p:nvSpPr>
        <p:spPr>
          <a:xfrm>
            <a:off x="3364992" y="1700784"/>
            <a:ext cx="2514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17 + Spring Boot 3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200400" y="2350008"/>
            <a:ext cx="27432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150"/>
          </a:p>
        </p:txBody>
      </p:sp>
      <p:sp>
        <p:nvSpPr>
          <p:cNvPr id="24" name="Shape 22"/>
          <p:cNvSpPr/>
          <p:nvPr/>
        </p:nvSpPr>
        <p:spPr>
          <a:xfrm>
            <a:off x="3200400" y="2350008"/>
            <a:ext cx="73152" cy="65836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150"/>
          </a:p>
        </p:txBody>
      </p:sp>
      <p:sp>
        <p:nvSpPr>
          <p:cNvPr id="25" name="Text 23"/>
          <p:cNvSpPr/>
          <p:nvPr/>
        </p:nvSpPr>
        <p:spPr>
          <a:xfrm>
            <a:off x="3364992" y="2478024"/>
            <a:ext cx="2514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Security + JWT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200400" y="3127248"/>
            <a:ext cx="27432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150"/>
          </a:p>
        </p:txBody>
      </p:sp>
      <p:sp>
        <p:nvSpPr>
          <p:cNvPr id="27" name="Shape 25"/>
          <p:cNvSpPr/>
          <p:nvPr/>
        </p:nvSpPr>
        <p:spPr>
          <a:xfrm>
            <a:off x="3200400" y="3127248"/>
            <a:ext cx="73152" cy="65836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150"/>
          </a:p>
        </p:txBody>
      </p:sp>
      <p:sp>
        <p:nvSpPr>
          <p:cNvPr id="28" name="Text 26"/>
          <p:cNvSpPr/>
          <p:nvPr/>
        </p:nvSpPr>
        <p:spPr>
          <a:xfrm>
            <a:off x="3364992" y="3255264"/>
            <a:ext cx="2514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Data JPA + Hibernate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200400" y="3904488"/>
            <a:ext cx="27432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150"/>
          </a:p>
        </p:txBody>
      </p:sp>
      <p:sp>
        <p:nvSpPr>
          <p:cNvPr id="30" name="Shape 28"/>
          <p:cNvSpPr/>
          <p:nvPr/>
        </p:nvSpPr>
        <p:spPr>
          <a:xfrm>
            <a:off x="3200400" y="3904488"/>
            <a:ext cx="73152" cy="65836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150"/>
          </a:p>
        </p:txBody>
      </p:sp>
      <p:sp>
        <p:nvSpPr>
          <p:cNvPr id="31" name="Text 29"/>
          <p:cNvSpPr/>
          <p:nvPr/>
        </p:nvSpPr>
        <p:spPr>
          <a:xfrm>
            <a:off x="3364992" y="4032504"/>
            <a:ext cx="2514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Maven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126480" y="960120"/>
            <a:ext cx="2743200" cy="457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150"/>
          </a:p>
        </p:txBody>
      </p:sp>
      <p:sp>
        <p:nvSpPr>
          <p:cNvPr id="33" name="Text 31"/>
          <p:cNvSpPr/>
          <p:nvPr/>
        </p:nvSpPr>
        <p:spPr>
          <a:xfrm>
            <a:off x="6126480" y="9601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Datos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6126480" y="1572768"/>
            <a:ext cx="27432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150"/>
          </a:p>
        </p:txBody>
      </p:sp>
      <p:sp>
        <p:nvSpPr>
          <p:cNvPr id="35" name="Shape 33"/>
          <p:cNvSpPr/>
          <p:nvPr/>
        </p:nvSpPr>
        <p:spPr>
          <a:xfrm>
            <a:off x="6126480" y="1572768"/>
            <a:ext cx="73152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150"/>
          </a:p>
        </p:txBody>
      </p:sp>
      <p:sp>
        <p:nvSpPr>
          <p:cNvPr id="36" name="Text 34"/>
          <p:cNvSpPr/>
          <p:nvPr/>
        </p:nvSpPr>
        <p:spPr>
          <a:xfrm>
            <a:off x="6291072" y="1700784"/>
            <a:ext cx="2514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8 (Railway)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6126480" y="2350008"/>
            <a:ext cx="27432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150"/>
          </a:p>
        </p:txBody>
      </p:sp>
      <p:sp>
        <p:nvSpPr>
          <p:cNvPr id="38" name="Shape 36"/>
          <p:cNvSpPr/>
          <p:nvPr/>
        </p:nvSpPr>
        <p:spPr>
          <a:xfrm>
            <a:off x="6126480" y="2350008"/>
            <a:ext cx="73152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150"/>
          </a:p>
        </p:txBody>
      </p:sp>
      <p:sp>
        <p:nvSpPr>
          <p:cNvPr id="39" name="Text 37"/>
          <p:cNvSpPr/>
          <p:nvPr/>
        </p:nvSpPr>
        <p:spPr>
          <a:xfrm>
            <a:off x="6291072" y="2478024"/>
            <a:ext cx="2514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 (contraseñas)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6126480" y="3127248"/>
            <a:ext cx="27432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150"/>
          </a:p>
        </p:txBody>
      </p:sp>
      <p:sp>
        <p:nvSpPr>
          <p:cNvPr id="41" name="Shape 39"/>
          <p:cNvSpPr/>
          <p:nvPr/>
        </p:nvSpPr>
        <p:spPr>
          <a:xfrm>
            <a:off x="6126480" y="3127248"/>
            <a:ext cx="73152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150"/>
          </a:p>
        </p:txBody>
      </p:sp>
      <p:sp>
        <p:nvSpPr>
          <p:cNvPr id="42" name="Text 40"/>
          <p:cNvSpPr/>
          <p:nvPr/>
        </p:nvSpPr>
        <p:spPr>
          <a:xfrm>
            <a:off x="6291072" y="3255264"/>
            <a:ext cx="2514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SpringDoc OpenAPI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6126480" y="3904488"/>
            <a:ext cx="27432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150"/>
          </a:p>
        </p:txBody>
      </p:sp>
      <p:sp>
        <p:nvSpPr>
          <p:cNvPr id="44" name="Shape 42"/>
          <p:cNvSpPr/>
          <p:nvPr/>
        </p:nvSpPr>
        <p:spPr>
          <a:xfrm>
            <a:off x="6126480" y="3904488"/>
            <a:ext cx="73152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150"/>
          </a:p>
        </p:txBody>
      </p:sp>
      <p:sp>
        <p:nvSpPr>
          <p:cNvPr id="45" name="Text 43"/>
          <p:cNvSpPr/>
          <p:nvPr/>
        </p:nvSpPr>
        <p:spPr>
          <a:xfrm>
            <a:off x="6291072" y="4032504"/>
            <a:ext cx="2514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JUnit 5 + Mockito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0" y="4736592"/>
            <a:ext cx="9144000" cy="402336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150"/>
          </a:p>
        </p:txBody>
      </p:sp>
      <p:sp>
        <p:nvSpPr>
          <p:cNvPr id="47" name="Text 45"/>
          <p:cNvSpPr/>
          <p:nvPr/>
        </p:nvSpPr>
        <p:spPr>
          <a:xfrm>
            <a:off x="274320" y="477316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E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Git + GitHub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2514600" y="477316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E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Figma (prototipos)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4754880" y="477316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E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Postman (pruebas API)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6995160" y="477316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E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MySQL Workbench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5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3D7E"/>
          </a:solidFill>
          <a:ln w="12700">
            <a:solidFill>
              <a:srgbClr val="003D7E"/>
            </a:solidFill>
            <a:prstDash val="solid"/>
          </a:ln>
        </p:spPr>
        <p:txBody>
          <a:bodyPr/>
          <a:lstStyle/>
          <a:p>
            <a:endParaRPr lang="en-150"/>
          </a:p>
        </p:txBody>
      </p:sp>
      <p:sp>
        <p:nvSpPr>
          <p:cNvPr id="3" name="Text 1"/>
          <p:cNvSpPr/>
          <p:nvPr/>
        </p:nvSpPr>
        <p:spPr>
          <a:xfrm>
            <a:off x="274320" y="4572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Cloud — IaaS / PaaS / SaaS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286000" y="1005840"/>
            <a:ext cx="4572000" cy="71323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  <a:effectLst>
            <a:outerShdw blurRad="177800" dist="635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150"/>
          </a:p>
        </p:txBody>
      </p:sp>
      <p:sp>
        <p:nvSpPr>
          <p:cNvPr id="5" name="Text 3"/>
          <p:cNvSpPr/>
          <p:nvPr/>
        </p:nvSpPr>
        <p:spPr>
          <a:xfrm>
            <a:off x="2286000" y="1060704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Navegador del Usuario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286000" y="137160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Chrome / Firefox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44568" y="1719072"/>
            <a:ext cx="54864" cy="384048"/>
          </a:xfrm>
          <a:prstGeom prst="rect">
            <a:avLst/>
          </a:prstGeom>
          <a:solidFill>
            <a:srgbClr val="C8E600"/>
          </a:solidFill>
          <a:ln w="12700">
            <a:solidFill>
              <a:srgbClr val="C8E600"/>
            </a:solidFill>
            <a:prstDash val="solid"/>
          </a:ln>
        </p:spPr>
        <p:txBody>
          <a:bodyPr/>
          <a:lstStyle/>
          <a:p>
            <a:endParaRPr lang="en-150"/>
          </a:p>
        </p:txBody>
      </p:sp>
      <p:sp>
        <p:nvSpPr>
          <p:cNvPr id="8" name="Text 6"/>
          <p:cNvSpPr/>
          <p:nvPr/>
        </p:nvSpPr>
        <p:spPr>
          <a:xfrm>
            <a:off x="4663440" y="178308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E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286000" y="2011680"/>
            <a:ext cx="4572000" cy="713232"/>
          </a:xfrm>
          <a:prstGeom prst="rect">
            <a:avLst/>
          </a:prstGeom>
          <a:solidFill>
            <a:srgbClr val="0056B3"/>
          </a:solidFill>
          <a:ln w="12700">
            <a:solidFill>
              <a:srgbClr val="0056B3"/>
            </a:solidFill>
            <a:prstDash val="solid"/>
          </a:ln>
          <a:effectLst>
            <a:outerShdw blurRad="177800" dist="635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150"/>
          </a:p>
        </p:txBody>
      </p:sp>
      <p:sp>
        <p:nvSpPr>
          <p:cNvPr id="10" name="Text 8"/>
          <p:cNvSpPr/>
          <p:nvPr/>
        </p:nvSpPr>
        <p:spPr>
          <a:xfrm>
            <a:off x="2286000" y="2066544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 CDN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286000" y="237744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SPA · PaaS · Frontend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44568" y="2724912"/>
            <a:ext cx="54864" cy="384048"/>
          </a:xfrm>
          <a:prstGeom prst="rect">
            <a:avLst/>
          </a:prstGeom>
          <a:solidFill>
            <a:srgbClr val="C8E600"/>
          </a:solidFill>
          <a:ln w="12700">
            <a:solidFill>
              <a:srgbClr val="C8E600"/>
            </a:solidFill>
            <a:prstDash val="solid"/>
          </a:ln>
        </p:spPr>
        <p:txBody>
          <a:bodyPr/>
          <a:lstStyle/>
          <a:p>
            <a:endParaRPr lang="en-150"/>
          </a:p>
        </p:txBody>
      </p:sp>
      <p:sp>
        <p:nvSpPr>
          <p:cNvPr id="13" name="Text 11"/>
          <p:cNvSpPr/>
          <p:nvPr/>
        </p:nvSpPr>
        <p:spPr>
          <a:xfrm>
            <a:off x="4663440" y="278892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E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 + REST :8080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286000" y="3017520"/>
            <a:ext cx="4572000" cy="71323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  <a:effectLst>
            <a:outerShdw blurRad="177800" dist="635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150"/>
          </a:p>
        </p:txBody>
      </p:sp>
      <p:sp>
        <p:nvSpPr>
          <p:cNvPr id="15" name="Text 13"/>
          <p:cNvSpPr/>
          <p:nvPr/>
        </p:nvSpPr>
        <p:spPr>
          <a:xfrm>
            <a:off x="2286000" y="3072384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Railway JVM — Spring Boot 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286000" y="338328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REST · Java 17 · Backend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44568" y="3730752"/>
            <a:ext cx="54864" cy="384048"/>
          </a:xfrm>
          <a:prstGeom prst="rect">
            <a:avLst/>
          </a:prstGeom>
          <a:solidFill>
            <a:srgbClr val="C8E600"/>
          </a:solidFill>
          <a:ln w="12700">
            <a:solidFill>
              <a:srgbClr val="C8E600"/>
            </a:solidFill>
            <a:prstDash val="solid"/>
          </a:ln>
        </p:spPr>
        <p:txBody>
          <a:bodyPr/>
          <a:lstStyle/>
          <a:p>
            <a:endParaRPr lang="en-150"/>
          </a:p>
        </p:txBody>
      </p:sp>
      <p:sp>
        <p:nvSpPr>
          <p:cNvPr id="18" name="Text 16"/>
          <p:cNvSpPr/>
          <p:nvPr/>
        </p:nvSpPr>
        <p:spPr>
          <a:xfrm>
            <a:off x="4663440" y="379476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E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JDBC interno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286000" y="4023360"/>
            <a:ext cx="4572000" cy="713232"/>
          </a:xfrm>
          <a:prstGeom prst="rect">
            <a:avLst/>
          </a:prstGeom>
          <a:solidFill>
            <a:srgbClr val="92400E"/>
          </a:solidFill>
          <a:ln w="12700">
            <a:solidFill>
              <a:srgbClr val="92400E"/>
            </a:solidFill>
            <a:prstDash val="solid"/>
          </a:ln>
          <a:effectLst>
            <a:outerShdw blurRad="177800" dist="635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150"/>
          </a:p>
        </p:txBody>
      </p:sp>
      <p:sp>
        <p:nvSpPr>
          <p:cNvPr id="20" name="Text 18"/>
          <p:cNvSpPr/>
          <p:nvPr/>
        </p:nvSpPr>
        <p:spPr>
          <a:xfrm>
            <a:off x="2286000" y="4078224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Railway MySQL 8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2286000" y="438912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tablas · JDBC interno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132320" y="1554480"/>
            <a:ext cx="1737360" cy="594360"/>
          </a:xfrm>
          <a:prstGeom prst="rect">
            <a:avLst/>
          </a:prstGeom>
          <a:solidFill>
            <a:srgbClr val="1F2937"/>
          </a:solidFill>
          <a:ln w="12700">
            <a:solidFill>
              <a:srgbClr val="64748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150"/>
          </a:p>
        </p:txBody>
      </p:sp>
      <p:sp>
        <p:nvSpPr>
          <p:cNvPr id="23" name="Text 21"/>
          <p:cNvSpPr/>
          <p:nvPr/>
        </p:nvSpPr>
        <p:spPr>
          <a:xfrm>
            <a:off x="7132320" y="155448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Automático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74320" y="4709160"/>
            <a:ext cx="8595360" cy="347472"/>
          </a:xfrm>
          <a:prstGeom prst="rect">
            <a:avLst/>
          </a:prstGeom>
          <a:solidFill>
            <a:srgbClr val="0D2B5E"/>
          </a:solidFill>
          <a:ln w="12700">
            <a:solidFill>
              <a:srgbClr val="1A73E8"/>
            </a:solidFill>
            <a:prstDash val="solid"/>
          </a:ln>
        </p:spPr>
        <p:txBody>
          <a:bodyPr/>
          <a:lstStyle/>
          <a:p>
            <a:endParaRPr lang="en-150"/>
          </a:p>
        </p:txBody>
      </p:sp>
      <p:sp>
        <p:nvSpPr>
          <p:cNvPr id="27" name="Text 25"/>
          <p:cNvSpPr/>
          <p:nvPr/>
        </p:nvSpPr>
        <p:spPr>
          <a:xfrm>
            <a:off x="365760" y="4727448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E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SLA 99.9%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514600" y="4727448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E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Sin hardware propio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663440" y="4727448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E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CI/CD con git push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812280" y="4727448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E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Plan gratuito académico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3D7E"/>
          </a:solidFill>
          <a:ln w="12700">
            <a:solidFill>
              <a:srgbClr val="003D7E"/>
            </a:solidFill>
            <a:prstDash val="solid"/>
          </a:ln>
        </p:spPr>
        <p:txBody>
          <a:bodyPr/>
          <a:lstStyle/>
          <a:p>
            <a:endParaRPr lang="en-150"/>
          </a:p>
        </p:txBody>
      </p:sp>
      <p:sp>
        <p:nvSpPr>
          <p:cNvPr id="3" name="Text 1"/>
          <p:cNvSpPr/>
          <p:nvPr/>
        </p:nvSpPr>
        <p:spPr>
          <a:xfrm>
            <a:off x="274320" y="4572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4+1 Vista de Escenarios — Casos de Uso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3840480" cy="43891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150"/>
          </a:p>
        </p:txBody>
      </p:sp>
      <p:sp>
        <p:nvSpPr>
          <p:cNvPr id="5" name="Text 3"/>
          <p:cNvSpPr/>
          <p:nvPr/>
        </p:nvSpPr>
        <p:spPr>
          <a:xfrm>
            <a:off x="274320" y="960120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274320" y="1508760"/>
            <a:ext cx="3840480" cy="566928"/>
          </a:xfrm>
          <a:prstGeom prst="rect">
            <a:avLst/>
          </a:prstGeom>
          <a:solidFill>
            <a:srgbClr val="DCFCE7"/>
          </a:solidFill>
          <a:ln w="12700">
            <a:solidFill>
              <a:srgbClr val="86EFA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150"/>
          </a:p>
        </p:txBody>
      </p:sp>
      <p:sp>
        <p:nvSpPr>
          <p:cNvPr id="7" name="Text 5"/>
          <p:cNvSpPr/>
          <p:nvPr/>
        </p:nvSpPr>
        <p:spPr>
          <a:xfrm>
            <a:off x="347472" y="1563624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CU-01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024128" y="155448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Registrarse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24128" y="1801368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 cuenta con correo y contraseña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" y="2185416"/>
            <a:ext cx="3840480" cy="566928"/>
          </a:xfrm>
          <a:prstGeom prst="rect">
            <a:avLst/>
          </a:prstGeom>
          <a:solidFill>
            <a:srgbClr val="DCFCE7"/>
          </a:solidFill>
          <a:ln w="12700">
            <a:solidFill>
              <a:srgbClr val="86EFA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150"/>
          </a:p>
        </p:txBody>
      </p:sp>
      <p:sp>
        <p:nvSpPr>
          <p:cNvPr id="11" name="Text 9"/>
          <p:cNvSpPr/>
          <p:nvPr/>
        </p:nvSpPr>
        <p:spPr>
          <a:xfrm>
            <a:off x="347472" y="224028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CU-02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024128" y="2231136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Iniciar sesión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24128" y="2478024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Autenticación con JWT, redirección por rol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4320" y="2862072"/>
            <a:ext cx="3840480" cy="566928"/>
          </a:xfrm>
          <a:prstGeom prst="rect">
            <a:avLst/>
          </a:prstGeom>
          <a:solidFill>
            <a:srgbClr val="DCFCE7"/>
          </a:solidFill>
          <a:ln w="12700">
            <a:solidFill>
              <a:srgbClr val="86EFA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150"/>
          </a:p>
        </p:txBody>
      </p:sp>
      <p:sp>
        <p:nvSpPr>
          <p:cNvPr id="15" name="Text 13"/>
          <p:cNvSpPr/>
          <p:nvPr/>
        </p:nvSpPr>
        <p:spPr>
          <a:xfrm>
            <a:off x="347472" y="2916936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CU-03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024128" y="29077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Agendar servicio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24128" y="315468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Selecciona servicio, fecha y hora disponible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74320" y="3538728"/>
            <a:ext cx="3840480" cy="566928"/>
          </a:xfrm>
          <a:prstGeom prst="rect">
            <a:avLst/>
          </a:prstGeom>
          <a:solidFill>
            <a:srgbClr val="DCFCE7"/>
          </a:solidFill>
          <a:ln w="12700">
            <a:solidFill>
              <a:srgbClr val="86EFA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150"/>
          </a:p>
        </p:txBody>
      </p:sp>
      <p:sp>
        <p:nvSpPr>
          <p:cNvPr id="19" name="Text 17"/>
          <p:cNvSpPr/>
          <p:nvPr/>
        </p:nvSpPr>
        <p:spPr>
          <a:xfrm>
            <a:off x="347472" y="3593592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CU-04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024128" y="3584448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Confirmar reserva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024128" y="3831336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/reservas · Recibe número CFD-{id}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74320" y="4215384"/>
            <a:ext cx="3840480" cy="566928"/>
          </a:xfrm>
          <a:prstGeom prst="rect">
            <a:avLst/>
          </a:prstGeom>
          <a:solidFill>
            <a:srgbClr val="DCFCE7"/>
          </a:solidFill>
          <a:ln w="12700">
            <a:solidFill>
              <a:srgbClr val="86EFA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150"/>
          </a:p>
        </p:txBody>
      </p:sp>
      <p:sp>
        <p:nvSpPr>
          <p:cNvPr id="23" name="Text 21"/>
          <p:cNvSpPr/>
          <p:nvPr/>
        </p:nvSpPr>
        <p:spPr>
          <a:xfrm>
            <a:off x="347472" y="4270248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CU-05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024128" y="4261104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 mis reservas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024128" y="4507992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Historial con estados y fechas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029200" y="960120"/>
            <a:ext cx="3840480" cy="438912"/>
          </a:xfrm>
          <a:prstGeom prst="rect">
            <a:avLst/>
          </a:prstGeom>
          <a:solidFill>
            <a:srgbClr val="003D7E"/>
          </a:solidFill>
          <a:ln w="12700">
            <a:solidFill>
              <a:srgbClr val="003D7E"/>
            </a:solidFill>
            <a:prstDash val="solid"/>
          </a:ln>
        </p:spPr>
        <p:txBody>
          <a:bodyPr/>
          <a:lstStyle/>
          <a:p>
            <a:endParaRPr lang="en-150"/>
          </a:p>
        </p:txBody>
      </p:sp>
      <p:sp>
        <p:nvSpPr>
          <p:cNvPr id="27" name="Text 25"/>
          <p:cNvSpPr/>
          <p:nvPr/>
        </p:nvSpPr>
        <p:spPr>
          <a:xfrm>
            <a:off x="5029200" y="960120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ADMINISTRADOR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5029200" y="1508760"/>
            <a:ext cx="3840480" cy="566928"/>
          </a:xfrm>
          <a:prstGeom prst="rect">
            <a:avLst/>
          </a:prstGeom>
          <a:solidFill>
            <a:srgbClr val="EBF3FF"/>
          </a:solidFill>
          <a:ln w="12700">
            <a:solidFill>
              <a:srgbClr val="D6E4F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150"/>
          </a:p>
        </p:txBody>
      </p:sp>
      <p:sp>
        <p:nvSpPr>
          <p:cNvPr id="29" name="Text 27"/>
          <p:cNvSpPr/>
          <p:nvPr/>
        </p:nvSpPr>
        <p:spPr>
          <a:xfrm>
            <a:off x="5102352" y="1563624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3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CU-07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779008" y="155448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Acceder dashboard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779008" y="1801368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con correo @cfdservicios.cl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029200" y="2185416"/>
            <a:ext cx="3840480" cy="566928"/>
          </a:xfrm>
          <a:prstGeom prst="rect">
            <a:avLst/>
          </a:prstGeom>
          <a:solidFill>
            <a:srgbClr val="EBF3FF"/>
          </a:solidFill>
          <a:ln w="12700">
            <a:solidFill>
              <a:srgbClr val="D6E4F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150"/>
          </a:p>
        </p:txBody>
      </p:sp>
      <p:sp>
        <p:nvSpPr>
          <p:cNvPr id="33" name="Text 31"/>
          <p:cNvSpPr/>
          <p:nvPr/>
        </p:nvSpPr>
        <p:spPr>
          <a:xfrm>
            <a:off x="5102352" y="224028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3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CU-08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779008" y="2231136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Gestionar servicios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779008" y="2478024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de servicios por categoría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029200" y="3107554"/>
            <a:ext cx="3840480" cy="566928"/>
          </a:xfrm>
          <a:prstGeom prst="rect">
            <a:avLst/>
          </a:prstGeom>
          <a:solidFill>
            <a:srgbClr val="EBF3FF"/>
          </a:solidFill>
          <a:ln w="12700">
            <a:solidFill>
              <a:srgbClr val="D6E4F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150"/>
          </a:p>
        </p:txBody>
      </p:sp>
      <p:sp>
        <p:nvSpPr>
          <p:cNvPr id="37" name="Text 35"/>
          <p:cNvSpPr/>
          <p:nvPr/>
        </p:nvSpPr>
        <p:spPr>
          <a:xfrm>
            <a:off x="5102352" y="2916936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3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CU-09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779008" y="29077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Gestionar disponibilidad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5779008" y="315468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Bloques horarios auto-generados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5029200" y="3538728"/>
            <a:ext cx="3840480" cy="566928"/>
          </a:xfrm>
          <a:prstGeom prst="rect">
            <a:avLst/>
          </a:prstGeom>
          <a:solidFill>
            <a:srgbClr val="EBF3FF"/>
          </a:solidFill>
          <a:ln w="12700">
            <a:solidFill>
              <a:srgbClr val="D6E4F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150"/>
          </a:p>
        </p:txBody>
      </p:sp>
      <p:sp>
        <p:nvSpPr>
          <p:cNvPr id="41" name="Text 39"/>
          <p:cNvSpPr/>
          <p:nvPr/>
        </p:nvSpPr>
        <p:spPr>
          <a:xfrm>
            <a:off x="5102352" y="3593592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3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CU-10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5779008" y="3584448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Gestionar reservas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5779008" y="3831336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 · Cancelar · Liberar cupos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5029200" y="4215384"/>
            <a:ext cx="3840480" cy="566928"/>
          </a:xfrm>
          <a:prstGeom prst="rect">
            <a:avLst/>
          </a:prstGeom>
          <a:solidFill>
            <a:srgbClr val="EBF3FF"/>
          </a:solidFill>
          <a:ln w="12700">
            <a:solidFill>
              <a:srgbClr val="D6E4F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150"/>
          </a:p>
        </p:txBody>
      </p:sp>
      <p:sp>
        <p:nvSpPr>
          <p:cNvPr id="45" name="Text 43"/>
          <p:cNvSpPr/>
          <p:nvPr/>
        </p:nvSpPr>
        <p:spPr>
          <a:xfrm>
            <a:off x="5102352" y="4270248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3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CU-11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5779008" y="4261104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 reportes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5779008" y="4507992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KPIs: citas totales, pendientes, confirmadas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4297680" y="960120"/>
            <a:ext cx="54864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150"/>
          </a:p>
        </p:txBody>
      </p:sp>
      <p:sp>
        <p:nvSpPr>
          <p:cNvPr id="49" name="Shape 47"/>
          <p:cNvSpPr/>
          <p:nvPr/>
        </p:nvSpPr>
        <p:spPr>
          <a:xfrm>
            <a:off x="4407408" y="2788920"/>
            <a:ext cx="329184" cy="329184"/>
          </a:xfrm>
          <a:prstGeom prst="ellipse">
            <a:avLst/>
          </a:prstGeom>
          <a:solidFill>
            <a:srgbClr val="C8E600"/>
          </a:solidFill>
          <a:ln w="12700">
            <a:solidFill>
              <a:srgbClr val="C8E600"/>
            </a:solidFill>
            <a:prstDash val="solid"/>
          </a:ln>
        </p:spPr>
        <p:txBody>
          <a:bodyPr/>
          <a:lstStyle/>
          <a:p>
            <a:endParaRPr lang="en-150"/>
          </a:p>
        </p:txBody>
      </p:sp>
      <p:sp>
        <p:nvSpPr>
          <p:cNvPr id="50" name="Text 48"/>
          <p:cNvSpPr/>
          <p:nvPr/>
        </p:nvSpPr>
        <p:spPr>
          <a:xfrm>
            <a:off x="4407408" y="27889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3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↔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3D7E"/>
          </a:solidFill>
          <a:ln w="12700">
            <a:solidFill>
              <a:srgbClr val="003D7E"/>
            </a:solidFill>
            <a:prstDash val="solid"/>
          </a:ln>
        </p:spPr>
        <p:txBody>
          <a:bodyPr/>
          <a:lstStyle/>
          <a:p>
            <a:endParaRPr lang="en-150"/>
          </a:p>
        </p:txBody>
      </p:sp>
      <p:sp>
        <p:nvSpPr>
          <p:cNvPr id="3" name="Text 1"/>
          <p:cNvSpPr/>
          <p:nvPr/>
        </p:nvSpPr>
        <p:spPr>
          <a:xfrm>
            <a:off x="274320" y="4572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4+1 Vista Lógica — Modelo de Entidades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82880" y="1005840"/>
            <a:ext cx="160020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150"/>
          </a:p>
        </p:txBody>
      </p:sp>
      <p:sp>
        <p:nvSpPr>
          <p:cNvPr id="5" name="Shape 3"/>
          <p:cNvSpPr/>
          <p:nvPr/>
        </p:nvSpPr>
        <p:spPr>
          <a:xfrm>
            <a:off x="182880" y="1005840"/>
            <a:ext cx="1600200" cy="43891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150"/>
          </a:p>
        </p:txBody>
      </p:sp>
      <p:sp>
        <p:nvSpPr>
          <p:cNvPr id="6" name="Text 4"/>
          <p:cNvSpPr/>
          <p:nvPr/>
        </p:nvSpPr>
        <p:spPr>
          <a:xfrm>
            <a:off x="182880" y="1005840"/>
            <a:ext cx="1600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56032" y="1508760"/>
            <a:ext cx="14538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id, correo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56032" y="2194560"/>
            <a:ext cx="1453896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150"/>
          </a:p>
        </p:txBody>
      </p:sp>
      <p:sp>
        <p:nvSpPr>
          <p:cNvPr id="9" name="Text 7"/>
          <p:cNvSpPr/>
          <p:nvPr/>
        </p:nvSpPr>
        <p:spPr>
          <a:xfrm>
            <a:off x="256032" y="2194560"/>
            <a:ext cx="14538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nombre, apellido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56032" y="2880360"/>
            <a:ext cx="1453896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150"/>
          </a:p>
        </p:txBody>
      </p:sp>
      <p:sp>
        <p:nvSpPr>
          <p:cNvPr id="11" name="Text 9"/>
          <p:cNvSpPr/>
          <p:nvPr/>
        </p:nvSpPr>
        <p:spPr>
          <a:xfrm>
            <a:off x="256032" y="2880360"/>
            <a:ext cx="14538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telefono, direccion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56032" y="3566160"/>
            <a:ext cx="1453896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150"/>
          </a:p>
        </p:txBody>
      </p:sp>
      <p:sp>
        <p:nvSpPr>
          <p:cNvPr id="13" name="Text 11"/>
          <p:cNvSpPr/>
          <p:nvPr/>
        </p:nvSpPr>
        <p:spPr>
          <a:xfrm>
            <a:off x="256032" y="3566160"/>
            <a:ext cx="14538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passwordHash, rol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965960" y="1005840"/>
            <a:ext cx="160020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150"/>
          </a:p>
        </p:txBody>
      </p:sp>
      <p:sp>
        <p:nvSpPr>
          <p:cNvPr id="15" name="Shape 13"/>
          <p:cNvSpPr/>
          <p:nvPr/>
        </p:nvSpPr>
        <p:spPr>
          <a:xfrm>
            <a:off x="1965960" y="1005840"/>
            <a:ext cx="1600200" cy="438912"/>
          </a:xfrm>
          <a:prstGeom prst="rect">
            <a:avLst/>
          </a:prstGeom>
          <a:solidFill>
            <a:srgbClr val="003D7E"/>
          </a:solidFill>
          <a:ln w="12700">
            <a:solidFill>
              <a:srgbClr val="003D7E"/>
            </a:solidFill>
            <a:prstDash val="solid"/>
          </a:ln>
        </p:spPr>
        <p:txBody>
          <a:bodyPr/>
          <a:lstStyle/>
          <a:p>
            <a:endParaRPr lang="en-150"/>
          </a:p>
        </p:txBody>
      </p:sp>
      <p:sp>
        <p:nvSpPr>
          <p:cNvPr id="16" name="Text 14"/>
          <p:cNvSpPr/>
          <p:nvPr/>
        </p:nvSpPr>
        <p:spPr>
          <a:xfrm>
            <a:off x="1965960" y="1005840"/>
            <a:ext cx="1600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039112" y="1508760"/>
            <a:ext cx="14538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039112" y="2194560"/>
            <a:ext cx="1453896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150"/>
          </a:p>
        </p:txBody>
      </p:sp>
      <p:sp>
        <p:nvSpPr>
          <p:cNvPr id="19" name="Text 17"/>
          <p:cNvSpPr/>
          <p:nvPr/>
        </p:nvSpPr>
        <p:spPr>
          <a:xfrm>
            <a:off x="2039112" y="2194560"/>
            <a:ext cx="14538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039112" y="2880360"/>
            <a:ext cx="1453896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150"/>
          </a:p>
        </p:txBody>
      </p:sp>
      <p:sp>
        <p:nvSpPr>
          <p:cNvPr id="21" name="Text 19"/>
          <p:cNvSpPr/>
          <p:nvPr/>
        </p:nvSpPr>
        <p:spPr>
          <a:xfrm>
            <a:off x="2039112" y="2880360"/>
            <a:ext cx="14538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created_at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039112" y="3566160"/>
            <a:ext cx="1453896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150"/>
          </a:p>
        </p:txBody>
      </p:sp>
      <p:sp>
        <p:nvSpPr>
          <p:cNvPr id="23" name="Text 21"/>
          <p:cNvSpPr/>
          <p:nvPr/>
        </p:nvSpPr>
        <p:spPr>
          <a:xfrm>
            <a:off x="2039112" y="3566160"/>
            <a:ext cx="14538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FKs: usuario, disp, serv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749040" y="1005840"/>
            <a:ext cx="160020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150"/>
          </a:p>
        </p:txBody>
      </p:sp>
      <p:sp>
        <p:nvSpPr>
          <p:cNvPr id="25" name="Shape 23"/>
          <p:cNvSpPr/>
          <p:nvPr/>
        </p:nvSpPr>
        <p:spPr>
          <a:xfrm>
            <a:off x="3749040" y="1005840"/>
            <a:ext cx="1600200" cy="438912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n-150"/>
          </a:p>
        </p:txBody>
      </p:sp>
      <p:sp>
        <p:nvSpPr>
          <p:cNvPr id="26" name="Text 24"/>
          <p:cNvSpPr/>
          <p:nvPr/>
        </p:nvSpPr>
        <p:spPr>
          <a:xfrm>
            <a:off x="3749040" y="1005840"/>
            <a:ext cx="1600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Disponibilidad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822192" y="1508760"/>
            <a:ext cx="14538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id, fecha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822192" y="2194560"/>
            <a:ext cx="1453896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150"/>
          </a:p>
        </p:txBody>
      </p:sp>
      <p:sp>
        <p:nvSpPr>
          <p:cNvPr id="29" name="Text 27"/>
          <p:cNvSpPr/>
          <p:nvPr/>
        </p:nvSpPr>
        <p:spPr>
          <a:xfrm>
            <a:off x="3822192" y="2194560"/>
            <a:ext cx="14538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hora_inicio, hora_fin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822192" y="2880360"/>
            <a:ext cx="1453896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150"/>
          </a:p>
        </p:txBody>
      </p:sp>
      <p:sp>
        <p:nvSpPr>
          <p:cNvPr id="31" name="Text 29"/>
          <p:cNvSpPr/>
          <p:nvPr/>
        </p:nvSpPr>
        <p:spPr>
          <a:xfrm>
            <a:off x="3822192" y="2880360"/>
            <a:ext cx="14538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cupos_totales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822192" y="3566160"/>
            <a:ext cx="1453896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150"/>
          </a:p>
        </p:txBody>
      </p:sp>
      <p:sp>
        <p:nvSpPr>
          <p:cNvPr id="33" name="Text 31"/>
          <p:cNvSpPr/>
          <p:nvPr/>
        </p:nvSpPr>
        <p:spPr>
          <a:xfrm>
            <a:off x="3822192" y="3566160"/>
            <a:ext cx="14538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cupos_ocupados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532120" y="1005840"/>
            <a:ext cx="160020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150"/>
          </a:p>
        </p:txBody>
      </p:sp>
      <p:sp>
        <p:nvSpPr>
          <p:cNvPr id="35" name="Shape 33"/>
          <p:cNvSpPr/>
          <p:nvPr/>
        </p:nvSpPr>
        <p:spPr>
          <a:xfrm>
            <a:off x="5532120" y="1005840"/>
            <a:ext cx="1600200" cy="438912"/>
          </a:xfrm>
          <a:prstGeom prst="rect">
            <a:avLst/>
          </a:prstGeom>
          <a:solidFill>
            <a:srgbClr val="6B21A8"/>
          </a:solidFill>
          <a:ln w="12700">
            <a:solidFill>
              <a:srgbClr val="6B21A8"/>
            </a:solidFill>
            <a:prstDash val="solid"/>
          </a:ln>
        </p:spPr>
        <p:txBody>
          <a:bodyPr/>
          <a:lstStyle/>
          <a:p>
            <a:endParaRPr lang="en-150"/>
          </a:p>
        </p:txBody>
      </p:sp>
      <p:sp>
        <p:nvSpPr>
          <p:cNvPr id="36" name="Text 34"/>
          <p:cNvSpPr/>
          <p:nvPr/>
        </p:nvSpPr>
        <p:spPr>
          <a:xfrm>
            <a:off x="5532120" y="1005840"/>
            <a:ext cx="1600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605272" y="1508760"/>
            <a:ext cx="14538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id, nombre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5605272" y="2194560"/>
            <a:ext cx="1453896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150"/>
          </a:p>
        </p:txBody>
      </p:sp>
      <p:sp>
        <p:nvSpPr>
          <p:cNvPr id="39" name="Text 37"/>
          <p:cNvSpPr/>
          <p:nvPr/>
        </p:nvSpPr>
        <p:spPr>
          <a:xfrm>
            <a:off x="5605272" y="2194560"/>
            <a:ext cx="14538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descripcion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5605272" y="2880360"/>
            <a:ext cx="1453896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150"/>
          </a:p>
        </p:txBody>
      </p:sp>
      <p:sp>
        <p:nvSpPr>
          <p:cNvPr id="41" name="Text 39"/>
          <p:cNvSpPr/>
          <p:nvPr/>
        </p:nvSpPr>
        <p:spPr>
          <a:xfrm>
            <a:off x="5605272" y="2880360"/>
            <a:ext cx="14538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duracion_min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5605272" y="3566160"/>
            <a:ext cx="1453896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150"/>
          </a:p>
        </p:txBody>
      </p:sp>
      <p:sp>
        <p:nvSpPr>
          <p:cNvPr id="43" name="Text 41"/>
          <p:cNvSpPr/>
          <p:nvPr/>
        </p:nvSpPr>
        <p:spPr>
          <a:xfrm>
            <a:off x="5605272" y="3566160"/>
            <a:ext cx="14538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activo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7315200" y="1005840"/>
            <a:ext cx="160020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150"/>
          </a:p>
        </p:txBody>
      </p:sp>
      <p:sp>
        <p:nvSpPr>
          <p:cNvPr id="45" name="Shape 43"/>
          <p:cNvSpPr/>
          <p:nvPr/>
        </p:nvSpPr>
        <p:spPr>
          <a:xfrm>
            <a:off x="7315200" y="1005840"/>
            <a:ext cx="1600200" cy="43891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150"/>
          </a:p>
        </p:txBody>
      </p:sp>
      <p:sp>
        <p:nvSpPr>
          <p:cNvPr id="46" name="Text 44"/>
          <p:cNvSpPr/>
          <p:nvPr/>
        </p:nvSpPr>
        <p:spPr>
          <a:xfrm>
            <a:off x="7315200" y="1005840"/>
            <a:ext cx="1600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Categoria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7388352" y="1508760"/>
            <a:ext cx="14538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7388352" y="2194560"/>
            <a:ext cx="1453896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150"/>
          </a:p>
        </p:txBody>
      </p:sp>
      <p:sp>
        <p:nvSpPr>
          <p:cNvPr id="49" name="Text 47"/>
          <p:cNvSpPr/>
          <p:nvPr/>
        </p:nvSpPr>
        <p:spPr>
          <a:xfrm>
            <a:off x="7388352" y="2194560"/>
            <a:ext cx="14538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7388352" y="2880360"/>
            <a:ext cx="1453896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150"/>
          </a:p>
        </p:txBody>
      </p:sp>
      <p:sp>
        <p:nvSpPr>
          <p:cNvPr id="51" name="Text 49"/>
          <p:cNvSpPr/>
          <p:nvPr/>
        </p:nvSpPr>
        <p:spPr>
          <a:xfrm>
            <a:off x="7388352" y="2880360"/>
            <a:ext cx="14538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descripcion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7388352" y="3566160"/>
            <a:ext cx="1453896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150"/>
          </a:p>
        </p:txBody>
      </p:sp>
      <p:sp>
        <p:nvSpPr>
          <p:cNvPr id="53" name="Text 51"/>
          <p:cNvSpPr/>
          <p:nvPr/>
        </p:nvSpPr>
        <p:spPr>
          <a:xfrm>
            <a:off x="7388352" y="3566160"/>
            <a:ext cx="14538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activo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987552" y="4626864"/>
            <a:ext cx="978408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150"/>
          </a:p>
        </p:txBody>
      </p:sp>
      <p:sp>
        <p:nvSpPr>
          <p:cNvPr id="55" name="Text 53"/>
          <p:cNvSpPr/>
          <p:nvPr/>
        </p:nvSpPr>
        <p:spPr>
          <a:xfrm>
            <a:off x="1312164" y="4425696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3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1:N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2770632" y="4626864"/>
            <a:ext cx="978408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150"/>
          </a:p>
        </p:txBody>
      </p:sp>
      <p:sp>
        <p:nvSpPr>
          <p:cNvPr id="57" name="Text 55"/>
          <p:cNvSpPr/>
          <p:nvPr/>
        </p:nvSpPr>
        <p:spPr>
          <a:xfrm>
            <a:off x="3095244" y="4425696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3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N:1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4572000" y="4626864"/>
            <a:ext cx="96012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150"/>
          </a:p>
        </p:txBody>
      </p:sp>
      <p:sp>
        <p:nvSpPr>
          <p:cNvPr id="59" name="Text 57"/>
          <p:cNvSpPr/>
          <p:nvPr/>
        </p:nvSpPr>
        <p:spPr>
          <a:xfrm>
            <a:off x="4887468" y="4425696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3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N:1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6382512" y="4626864"/>
            <a:ext cx="932688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150"/>
          </a:p>
        </p:txBody>
      </p:sp>
      <p:sp>
        <p:nvSpPr>
          <p:cNvPr id="61" name="Text 59"/>
          <p:cNvSpPr/>
          <p:nvPr/>
        </p:nvSpPr>
        <p:spPr>
          <a:xfrm>
            <a:off x="6684264" y="4425696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3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N:1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3D7E"/>
          </a:solidFill>
          <a:ln w="12700">
            <a:solidFill>
              <a:srgbClr val="003D7E"/>
            </a:solidFill>
            <a:prstDash val="solid"/>
          </a:ln>
        </p:spPr>
        <p:txBody>
          <a:bodyPr/>
          <a:lstStyle/>
          <a:p>
            <a:endParaRPr lang="en-150"/>
          </a:p>
        </p:txBody>
      </p:sp>
      <p:sp>
        <p:nvSpPr>
          <p:cNvPr id="3" name="Text 1"/>
          <p:cNvSpPr/>
          <p:nvPr/>
        </p:nvSpPr>
        <p:spPr>
          <a:xfrm>
            <a:off x="274320" y="4572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4+1 Vista de Desarrollo — Componentes y Paquetes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28600" y="960120"/>
            <a:ext cx="3840480" cy="4023360"/>
          </a:xfrm>
          <a:prstGeom prst="rect">
            <a:avLst/>
          </a:prstGeom>
          <a:solidFill>
            <a:srgbClr val="EBF3FF"/>
          </a:solidFill>
          <a:ln w="12700">
            <a:solidFill>
              <a:srgbClr val="D6E4F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150"/>
          </a:p>
        </p:txBody>
      </p:sp>
      <p:sp>
        <p:nvSpPr>
          <p:cNvPr id="5" name="Shape 3"/>
          <p:cNvSpPr/>
          <p:nvPr/>
        </p:nvSpPr>
        <p:spPr>
          <a:xfrm>
            <a:off x="228600" y="960120"/>
            <a:ext cx="3840480" cy="402336"/>
          </a:xfrm>
          <a:prstGeom prst="rect">
            <a:avLst/>
          </a:prstGeom>
          <a:solidFill>
            <a:srgbClr val="0056B3"/>
          </a:solidFill>
          <a:ln w="12700">
            <a:solidFill>
              <a:srgbClr val="0056B3"/>
            </a:solidFill>
            <a:prstDash val="solid"/>
          </a:ln>
        </p:spPr>
        <p:txBody>
          <a:bodyPr/>
          <a:lstStyle/>
          <a:p>
            <a:endParaRPr lang="en-150"/>
          </a:p>
        </p:txBody>
      </p:sp>
      <p:sp>
        <p:nvSpPr>
          <p:cNvPr id="6" name="Text 4"/>
          <p:cNvSpPr/>
          <p:nvPr/>
        </p:nvSpPr>
        <p:spPr>
          <a:xfrm>
            <a:off x="228600" y="960120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— React + Vite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" y="150876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3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src/componentes/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" y="1764792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Navbar, Footer (reutilizables)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11480" y="236829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3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src/Paginas/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11480" y="2624328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Home, Servicios, Agenda, Login, Registro, Admin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11480" y="322783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3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Api.js (Axios)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11480" y="3483864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Interceptor JWT · Todas las llamadas HTTP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11480" y="408736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3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Router DOM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11480" y="434340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Rutas /agenda /login /admin /registro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160520" y="256032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C8E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⇄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4069080" y="315468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3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003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/api/v1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160520" y="358444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:8080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074920" y="960120"/>
            <a:ext cx="3840480" cy="4023360"/>
          </a:xfrm>
          <a:prstGeom prst="rect">
            <a:avLst/>
          </a:prstGeom>
          <a:solidFill>
            <a:srgbClr val="DCFCE7"/>
          </a:solidFill>
          <a:ln w="12700">
            <a:solidFill>
              <a:srgbClr val="BBF7D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150"/>
          </a:p>
        </p:txBody>
      </p:sp>
      <p:sp>
        <p:nvSpPr>
          <p:cNvPr id="19" name="Shape 17"/>
          <p:cNvSpPr/>
          <p:nvPr/>
        </p:nvSpPr>
        <p:spPr>
          <a:xfrm>
            <a:off x="5074920" y="960120"/>
            <a:ext cx="3840480" cy="402336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150"/>
          </a:p>
        </p:txBody>
      </p:sp>
      <p:sp>
        <p:nvSpPr>
          <p:cNvPr id="20" name="Text 18"/>
          <p:cNvSpPr/>
          <p:nvPr/>
        </p:nvSpPr>
        <p:spPr>
          <a:xfrm>
            <a:off x="5074920" y="960120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— Spring Boot 3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230368" y="1508760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controller/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230368" y="1746504"/>
            <a:ext cx="3520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controladores REST: Auth, Servicio, Disponibilidad, Reserva, Usuario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230368" y="2194560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service/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230368" y="2432304"/>
            <a:ext cx="3520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Lógica de negocio: ReservaService, DisponibilidadService, UsuarioService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230368" y="2880360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repository/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230368" y="3118104"/>
            <a:ext cx="3520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interfaces Spring Data JPA para MySQL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230368" y="3566160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security/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230368" y="3803904"/>
            <a:ext cx="3520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JwtUtil · JwtRequestFilter · SecurityConfig · UserDetailsServiceImpl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230368" y="4251960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model/ + dto/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230368" y="4489704"/>
            <a:ext cx="3520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entidades JPA · ReservaRequestDTO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3D7E"/>
          </a:solidFill>
          <a:ln w="12700">
            <a:solidFill>
              <a:srgbClr val="003D7E"/>
            </a:solidFill>
            <a:prstDash val="solid"/>
          </a:ln>
        </p:spPr>
        <p:txBody>
          <a:bodyPr/>
          <a:lstStyle/>
          <a:p>
            <a:endParaRPr lang="en-150"/>
          </a:p>
        </p:txBody>
      </p:sp>
      <p:sp>
        <p:nvSpPr>
          <p:cNvPr id="3" name="Text 1"/>
          <p:cNvSpPr/>
          <p:nvPr/>
        </p:nvSpPr>
        <p:spPr>
          <a:xfrm>
            <a:off x="274320" y="4572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4+1 Vista de Procesos — Flujo de Agendamiento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37160" y="914400"/>
            <a:ext cx="2834640" cy="34747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150"/>
          </a:p>
        </p:txBody>
      </p:sp>
      <p:sp>
        <p:nvSpPr>
          <p:cNvPr id="5" name="Text 3"/>
          <p:cNvSpPr/>
          <p:nvPr/>
        </p:nvSpPr>
        <p:spPr>
          <a:xfrm>
            <a:off x="137160" y="91440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154680" y="914400"/>
            <a:ext cx="2834640" cy="347472"/>
          </a:xfrm>
          <a:prstGeom prst="rect">
            <a:avLst/>
          </a:prstGeom>
          <a:solidFill>
            <a:srgbClr val="0056B3"/>
          </a:solidFill>
          <a:ln w="12700">
            <a:solidFill>
              <a:srgbClr val="0056B3"/>
            </a:solidFill>
            <a:prstDash val="solid"/>
          </a:ln>
        </p:spPr>
        <p:txBody>
          <a:bodyPr/>
          <a:lstStyle/>
          <a:p>
            <a:endParaRPr lang="en-150"/>
          </a:p>
        </p:txBody>
      </p:sp>
      <p:sp>
        <p:nvSpPr>
          <p:cNvPr id="7" name="Text 5"/>
          <p:cNvSpPr/>
          <p:nvPr/>
        </p:nvSpPr>
        <p:spPr>
          <a:xfrm>
            <a:off x="3154680" y="91440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/ REACT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172200" y="914400"/>
            <a:ext cx="2834640" cy="347472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n-150"/>
          </a:p>
        </p:txBody>
      </p:sp>
      <p:sp>
        <p:nvSpPr>
          <p:cNvPr id="9" name="Text 7"/>
          <p:cNvSpPr/>
          <p:nvPr/>
        </p:nvSpPr>
        <p:spPr>
          <a:xfrm>
            <a:off x="6172200" y="91440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/ BD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37160" y="1261872"/>
            <a:ext cx="2834640" cy="3703320"/>
          </a:xfrm>
          <a:prstGeom prst="rect">
            <a:avLst/>
          </a:prstGeom>
          <a:solidFill>
            <a:srgbClr val="0D1E10"/>
          </a:solidFill>
          <a:ln w="12700">
            <a:solidFill>
              <a:srgbClr val="1A3A20"/>
            </a:solidFill>
            <a:prstDash val="solid"/>
          </a:ln>
        </p:spPr>
        <p:txBody>
          <a:bodyPr/>
          <a:lstStyle/>
          <a:p>
            <a:endParaRPr lang="en-150"/>
          </a:p>
        </p:txBody>
      </p:sp>
      <p:sp>
        <p:nvSpPr>
          <p:cNvPr id="11" name="Shape 9"/>
          <p:cNvSpPr/>
          <p:nvPr/>
        </p:nvSpPr>
        <p:spPr>
          <a:xfrm>
            <a:off x="3154680" y="1261872"/>
            <a:ext cx="2834640" cy="3703320"/>
          </a:xfrm>
          <a:prstGeom prst="rect">
            <a:avLst/>
          </a:prstGeom>
          <a:solidFill>
            <a:srgbClr val="0D1628"/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en-150"/>
          </a:p>
        </p:txBody>
      </p:sp>
      <p:sp>
        <p:nvSpPr>
          <p:cNvPr id="12" name="Shape 10"/>
          <p:cNvSpPr/>
          <p:nvPr/>
        </p:nvSpPr>
        <p:spPr>
          <a:xfrm>
            <a:off x="6172200" y="1261872"/>
            <a:ext cx="2834640" cy="3703320"/>
          </a:xfrm>
          <a:prstGeom prst="rect">
            <a:avLst/>
          </a:prstGeom>
          <a:solidFill>
            <a:srgbClr val="1E0D00"/>
          </a:solidFill>
          <a:ln w="12700">
            <a:solidFill>
              <a:srgbClr val="4A2A00"/>
            </a:solidFill>
            <a:prstDash val="solid"/>
          </a:ln>
        </p:spPr>
        <p:txBody>
          <a:bodyPr/>
          <a:lstStyle/>
          <a:p>
            <a:endParaRPr lang="en-150"/>
          </a:p>
        </p:txBody>
      </p:sp>
      <p:sp>
        <p:nvSpPr>
          <p:cNvPr id="13" name="Shape 11"/>
          <p:cNvSpPr/>
          <p:nvPr/>
        </p:nvSpPr>
        <p:spPr>
          <a:xfrm>
            <a:off x="228600" y="1389888"/>
            <a:ext cx="2651760" cy="713232"/>
          </a:xfrm>
          <a:prstGeom prst="rect">
            <a:avLst/>
          </a:prstGeom>
          <a:solidFill>
            <a:srgbClr val="1A1A2E"/>
          </a:solidFill>
          <a:ln w="12700">
            <a:solidFill>
              <a:srgbClr val="16A3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150"/>
          </a:p>
        </p:txBody>
      </p:sp>
      <p:sp>
        <p:nvSpPr>
          <p:cNvPr id="14" name="Shape 12"/>
          <p:cNvSpPr/>
          <p:nvPr/>
        </p:nvSpPr>
        <p:spPr>
          <a:xfrm>
            <a:off x="228600" y="1389888"/>
            <a:ext cx="73152" cy="71323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150"/>
          </a:p>
        </p:txBody>
      </p:sp>
      <p:sp>
        <p:nvSpPr>
          <p:cNvPr id="15" name="Text 13"/>
          <p:cNvSpPr/>
          <p:nvPr/>
        </p:nvSpPr>
        <p:spPr>
          <a:xfrm>
            <a:off x="365760" y="1481328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Selecciona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 + fecha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46120" y="1389888"/>
            <a:ext cx="2651760" cy="713232"/>
          </a:xfrm>
          <a:prstGeom prst="rect">
            <a:avLst/>
          </a:prstGeom>
          <a:solidFill>
            <a:srgbClr val="1A1A2E"/>
          </a:solidFill>
          <a:ln w="12700">
            <a:solidFill>
              <a:srgbClr val="0056B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150"/>
          </a:p>
        </p:txBody>
      </p:sp>
      <p:sp>
        <p:nvSpPr>
          <p:cNvPr id="17" name="Shape 15"/>
          <p:cNvSpPr/>
          <p:nvPr/>
        </p:nvSpPr>
        <p:spPr>
          <a:xfrm>
            <a:off x="3246120" y="1389888"/>
            <a:ext cx="73152" cy="713232"/>
          </a:xfrm>
          <a:prstGeom prst="rect">
            <a:avLst/>
          </a:prstGeom>
          <a:solidFill>
            <a:srgbClr val="0056B3"/>
          </a:solidFill>
          <a:ln w="12700">
            <a:solidFill>
              <a:srgbClr val="0056B3"/>
            </a:solidFill>
            <a:prstDash val="solid"/>
          </a:ln>
        </p:spPr>
        <p:txBody>
          <a:bodyPr/>
          <a:lstStyle/>
          <a:p>
            <a:endParaRPr lang="en-150"/>
          </a:p>
        </p:txBody>
      </p:sp>
      <p:sp>
        <p:nvSpPr>
          <p:cNvPr id="18" name="Text 16"/>
          <p:cNvSpPr/>
          <p:nvPr/>
        </p:nvSpPr>
        <p:spPr>
          <a:xfrm>
            <a:off x="3383280" y="1481328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/disponibilidad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consultar?fecha&amp;servicioId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263640" y="1389888"/>
            <a:ext cx="2651760" cy="713232"/>
          </a:xfrm>
          <a:prstGeom prst="rect">
            <a:avLst/>
          </a:prstGeom>
          <a:solidFill>
            <a:srgbClr val="1A1A2E"/>
          </a:solidFill>
          <a:ln w="12700">
            <a:solidFill>
              <a:srgbClr val="EA580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150"/>
          </a:p>
        </p:txBody>
      </p:sp>
      <p:sp>
        <p:nvSpPr>
          <p:cNvPr id="20" name="Shape 18"/>
          <p:cNvSpPr/>
          <p:nvPr/>
        </p:nvSpPr>
        <p:spPr>
          <a:xfrm>
            <a:off x="6263640" y="1389888"/>
            <a:ext cx="73152" cy="713232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n-150"/>
          </a:p>
        </p:txBody>
      </p:sp>
      <p:sp>
        <p:nvSpPr>
          <p:cNvPr id="21" name="Text 19"/>
          <p:cNvSpPr/>
          <p:nvPr/>
        </p:nvSpPr>
        <p:spPr>
          <a:xfrm>
            <a:off x="6400800" y="1481328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Siembra 12 bloques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no existen en BD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28600" y="2304288"/>
            <a:ext cx="2651760" cy="713232"/>
          </a:xfrm>
          <a:prstGeom prst="rect">
            <a:avLst/>
          </a:prstGeom>
          <a:solidFill>
            <a:srgbClr val="1A1A2E"/>
          </a:solidFill>
          <a:ln w="12700">
            <a:solidFill>
              <a:srgbClr val="16A3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150"/>
          </a:p>
        </p:txBody>
      </p:sp>
      <p:sp>
        <p:nvSpPr>
          <p:cNvPr id="23" name="Shape 21"/>
          <p:cNvSpPr/>
          <p:nvPr/>
        </p:nvSpPr>
        <p:spPr>
          <a:xfrm>
            <a:off x="228600" y="2304288"/>
            <a:ext cx="73152" cy="71323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150"/>
          </a:p>
        </p:txBody>
      </p:sp>
      <p:sp>
        <p:nvSpPr>
          <p:cNvPr id="24" name="Text 22"/>
          <p:cNvSpPr/>
          <p:nvPr/>
        </p:nvSpPr>
        <p:spPr>
          <a:xfrm>
            <a:off x="365760" y="2395728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Elige bloque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horario disponible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246120" y="2304288"/>
            <a:ext cx="2651760" cy="713232"/>
          </a:xfrm>
          <a:prstGeom prst="rect">
            <a:avLst/>
          </a:prstGeom>
          <a:solidFill>
            <a:srgbClr val="1A1A2E"/>
          </a:solidFill>
          <a:ln w="12700">
            <a:solidFill>
              <a:srgbClr val="0056B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150"/>
          </a:p>
        </p:txBody>
      </p:sp>
      <p:sp>
        <p:nvSpPr>
          <p:cNvPr id="26" name="Shape 24"/>
          <p:cNvSpPr/>
          <p:nvPr/>
        </p:nvSpPr>
        <p:spPr>
          <a:xfrm>
            <a:off x="3246120" y="2304288"/>
            <a:ext cx="73152" cy="713232"/>
          </a:xfrm>
          <a:prstGeom prst="rect">
            <a:avLst/>
          </a:prstGeom>
          <a:solidFill>
            <a:srgbClr val="0056B3"/>
          </a:solidFill>
          <a:ln w="12700">
            <a:solidFill>
              <a:srgbClr val="0056B3"/>
            </a:solidFill>
            <a:prstDash val="solid"/>
          </a:ln>
        </p:spPr>
        <p:txBody>
          <a:bodyPr/>
          <a:lstStyle/>
          <a:p>
            <a:endParaRPr lang="en-150"/>
          </a:p>
        </p:txBody>
      </p:sp>
      <p:sp>
        <p:nvSpPr>
          <p:cNvPr id="27" name="Text 25"/>
          <p:cNvSpPr/>
          <p:nvPr/>
        </p:nvSpPr>
        <p:spPr>
          <a:xfrm>
            <a:off x="3383280" y="2395728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Almacena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disponibilidadId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28600" y="3218688"/>
            <a:ext cx="2651760" cy="713232"/>
          </a:xfrm>
          <a:prstGeom prst="rect">
            <a:avLst/>
          </a:prstGeom>
          <a:solidFill>
            <a:srgbClr val="1A1A2E"/>
          </a:solidFill>
          <a:ln w="12700">
            <a:solidFill>
              <a:srgbClr val="16A3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150"/>
          </a:p>
        </p:txBody>
      </p:sp>
      <p:sp>
        <p:nvSpPr>
          <p:cNvPr id="29" name="Shape 27"/>
          <p:cNvSpPr/>
          <p:nvPr/>
        </p:nvSpPr>
        <p:spPr>
          <a:xfrm>
            <a:off x="228600" y="3218688"/>
            <a:ext cx="73152" cy="71323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150"/>
          </a:p>
        </p:txBody>
      </p:sp>
      <p:sp>
        <p:nvSpPr>
          <p:cNvPr id="30" name="Text 28"/>
          <p:cNvSpPr/>
          <p:nvPr/>
        </p:nvSpPr>
        <p:spPr>
          <a:xfrm>
            <a:off x="365760" y="3310128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 con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credenciales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246120" y="3218688"/>
            <a:ext cx="2651760" cy="713232"/>
          </a:xfrm>
          <a:prstGeom prst="rect">
            <a:avLst/>
          </a:prstGeom>
          <a:solidFill>
            <a:srgbClr val="1A1A2E"/>
          </a:solidFill>
          <a:ln w="12700">
            <a:solidFill>
              <a:srgbClr val="0056B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150"/>
          </a:p>
        </p:txBody>
      </p:sp>
      <p:sp>
        <p:nvSpPr>
          <p:cNvPr id="32" name="Shape 30"/>
          <p:cNvSpPr/>
          <p:nvPr/>
        </p:nvSpPr>
        <p:spPr>
          <a:xfrm>
            <a:off x="3246120" y="3218688"/>
            <a:ext cx="73152" cy="713232"/>
          </a:xfrm>
          <a:prstGeom prst="rect">
            <a:avLst/>
          </a:prstGeom>
          <a:solidFill>
            <a:srgbClr val="0056B3"/>
          </a:solidFill>
          <a:ln w="12700">
            <a:solidFill>
              <a:srgbClr val="0056B3"/>
            </a:solidFill>
            <a:prstDash val="solid"/>
          </a:ln>
        </p:spPr>
        <p:txBody>
          <a:bodyPr/>
          <a:lstStyle/>
          <a:p>
            <a:endParaRPr lang="en-150"/>
          </a:p>
        </p:txBody>
      </p:sp>
      <p:sp>
        <p:nvSpPr>
          <p:cNvPr id="33" name="Text 31"/>
          <p:cNvSpPr/>
          <p:nvPr/>
        </p:nvSpPr>
        <p:spPr>
          <a:xfrm>
            <a:off x="3383280" y="3310128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/auth/login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JWT + usuario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3246120" y="4133088"/>
            <a:ext cx="2651760" cy="713232"/>
          </a:xfrm>
          <a:prstGeom prst="rect">
            <a:avLst/>
          </a:prstGeom>
          <a:solidFill>
            <a:srgbClr val="1A1A2E"/>
          </a:solidFill>
          <a:ln w="12700">
            <a:solidFill>
              <a:srgbClr val="0056B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150"/>
          </a:p>
        </p:txBody>
      </p:sp>
      <p:sp>
        <p:nvSpPr>
          <p:cNvPr id="35" name="Shape 33"/>
          <p:cNvSpPr/>
          <p:nvPr/>
        </p:nvSpPr>
        <p:spPr>
          <a:xfrm>
            <a:off x="3246120" y="4133088"/>
            <a:ext cx="73152" cy="713232"/>
          </a:xfrm>
          <a:prstGeom prst="rect">
            <a:avLst/>
          </a:prstGeom>
          <a:solidFill>
            <a:srgbClr val="0056B3"/>
          </a:solidFill>
          <a:ln w="12700">
            <a:solidFill>
              <a:srgbClr val="0056B3"/>
            </a:solidFill>
            <a:prstDash val="solid"/>
          </a:ln>
        </p:spPr>
        <p:txBody>
          <a:bodyPr/>
          <a:lstStyle/>
          <a:p>
            <a:endParaRPr lang="en-150"/>
          </a:p>
        </p:txBody>
      </p:sp>
      <p:sp>
        <p:nvSpPr>
          <p:cNvPr id="36" name="Text 34"/>
          <p:cNvSpPr/>
          <p:nvPr/>
        </p:nvSpPr>
        <p:spPr>
          <a:xfrm>
            <a:off x="3383280" y="4224528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/reservas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{usuarioId, dispId, servId}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263640" y="4133088"/>
            <a:ext cx="2651760" cy="713232"/>
          </a:xfrm>
          <a:prstGeom prst="rect">
            <a:avLst/>
          </a:prstGeom>
          <a:solidFill>
            <a:srgbClr val="1A1A2E"/>
          </a:solidFill>
          <a:ln w="12700">
            <a:solidFill>
              <a:srgbClr val="EA580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150"/>
          </a:p>
        </p:txBody>
      </p:sp>
      <p:sp>
        <p:nvSpPr>
          <p:cNvPr id="38" name="Shape 36"/>
          <p:cNvSpPr/>
          <p:nvPr/>
        </p:nvSpPr>
        <p:spPr>
          <a:xfrm>
            <a:off x="6263640" y="4133088"/>
            <a:ext cx="73152" cy="713232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n-150"/>
          </a:p>
        </p:txBody>
      </p:sp>
      <p:sp>
        <p:nvSpPr>
          <p:cNvPr id="39" name="Text 37"/>
          <p:cNvSpPr/>
          <p:nvPr/>
        </p:nvSpPr>
        <p:spPr>
          <a:xfrm>
            <a:off x="6400800" y="4224528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 cupos → CFD-{id}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estado: CONFIRMADA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2880360" y="1746504"/>
            <a:ext cx="365760" cy="0"/>
          </a:xfrm>
          <a:prstGeom prst="line">
            <a:avLst/>
          </a:prstGeom>
          <a:noFill/>
          <a:ln w="19050">
            <a:solidFill>
              <a:srgbClr val="C8E600"/>
            </a:solidFill>
            <a:prstDash val="solid"/>
          </a:ln>
        </p:spPr>
        <p:txBody>
          <a:bodyPr/>
          <a:lstStyle/>
          <a:p>
            <a:endParaRPr lang="en-150"/>
          </a:p>
        </p:txBody>
      </p:sp>
      <p:sp>
        <p:nvSpPr>
          <p:cNvPr id="41" name="Shape 39"/>
          <p:cNvSpPr/>
          <p:nvPr/>
        </p:nvSpPr>
        <p:spPr>
          <a:xfrm>
            <a:off x="5897880" y="1746504"/>
            <a:ext cx="365760" cy="0"/>
          </a:xfrm>
          <a:prstGeom prst="line">
            <a:avLst/>
          </a:prstGeom>
          <a:noFill/>
          <a:ln w="19050">
            <a:solidFill>
              <a:srgbClr val="C8E600"/>
            </a:solidFill>
            <a:prstDash val="solid"/>
          </a:ln>
        </p:spPr>
        <p:txBody>
          <a:bodyPr/>
          <a:lstStyle/>
          <a:p>
            <a:endParaRPr lang="en-150"/>
          </a:p>
        </p:txBody>
      </p:sp>
      <p:sp>
        <p:nvSpPr>
          <p:cNvPr id="42" name="Shape 40"/>
          <p:cNvSpPr/>
          <p:nvPr/>
        </p:nvSpPr>
        <p:spPr>
          <a:xfrm>
            <a:off x="5897880" y="4489704"/>
            <a:ext cx="365760" cy="0"/>
          </a:xfrm>
          <a:prstGeom prst="line">
            <a:avLst/>
          </a:prstGeom>
          <a:noFill/>
          <a:ln w="19050">
            <a:solidFill>
              <a:srgbClr val="C8E600"/>
            </a:solidFill>
            <a:prstDash val="solid"/>
          </a:ln>
        </p:spPr>
        <p:txBody>
          <a:bodyPr/>
          <a:lstStyle/>
          <a:p>
            <a:endParaRPr lang="en-15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3D7E"/>
          </a:solidFill>
          <a:ln w="12700">
            <a:solidFill>
              <a:srgbClr val="003D7E"/>
            </a:solidFill>
            <a:prstDash val="solid"/>
          </a:ln>
        </p:spPr>
        <p:txBody>
          <a:bodyPr/>
          <a:lstStyle/>
          <a:p>
            <a:endParaRPr lang="en-150"/>
          </a:p>
        </p:txBody>
      </p:sp>
      <p:sp>
        <p:nvSpPr>
          <p:cNvPr id="3" name="Text 1"/>
          <p:cNvSpPr/>
          <p:nvPr/>
        </p:nvSpPr>
        <p:spPr>
          <a:xfrm>
            <a:off x="274320" y="4572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4+1 Vista Física — Topología de Despliegue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828800" y="960120"/>
            <a:ext cx="59436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150"/>
          </a:p>
        </p:txBody>
      </p:sp>
      <p:sp>
        <p:nvSpPr>
          <p:cNvPr id="5" name="Shape 3"/>
          <p:cNvSpPr/>
          <p:nvPr/>
        </p:nvSpPr>
        <p:spPr>
          <a:xfrm>
            <a:off x="1828800" y="960120"/>
            <a:ext cx="109728" cy="74980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150"/>
          </a:p>
        </p:txBody>
      </p:sp>
      <p:sp>
        <p:nvSpPr>
          <p:cNvPr id="6" name="Text 4"/>
          <p:cNvSpPr/>
          <p:nvPr/>
        </p:nvSpPr>
        <p:spPr>
          <a:xfrm>
            <a:off x="2029968" y="1014984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Navegador del Usuario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029968" y="1289304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Chrome / Safari / Firefox · React SPA compilada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955280" y="1143000"/>
            <a:ext cx="731520" cy="29260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150"/>
          </a:p>
        </p:txBody>
      </p:sp>
      <p:sp>
        <p:nvSpPr>
          <p:cNvPr id="9" name="Text 7"/>
          <p:cNvSpPr/>
          <p:nvPr/>
        </p:nvSpPr>
        <p:spPr>
          <a:xfrm>
            <a:off x="7955280" y="1143000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828800" y="1938528"/>
            <a:ext cx="59436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0056B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150"/>
          </a:p>
        </p:txBody>
      </p:sp>
      <p:sp>
        <p:nvSpPr>
          <p:cNvPr id="11" name="Shape 9"/>
          <p:cNvSpPr/>
          <p:nvPr/>
        </p:nvSpPr>
        <p:spPr>
          <a:xfrm>
            <a:off x="1828800" y="1938528"/>
            <a:ext cx="109728" cy="749808"/>
          </a:xfrm>
          <a:prstGeom prst="rect">
            <a:avLst/>
          </a:prstGeom>
          <a:solidFill>
            <a:srgbClr val="0056B3"/>
          </a:solidFill>
          <a:ln w="12700">
            <a:solidFill>
              <a:srgbClr val="0056B3"/>
            </a:solidFill>
            <a:prstDash val="solid"/>
          </a:ln>
        </p:spPr>
        <p:txBody>
          <a:bodyPr/>
          <a:lstStyle/>
          <a:p>
            <a:endParaRPr lang="en-150"/>
          </a:p>
        </p:txBody>
      </p:sp>
      <p:sp>
        <p:nvSpPr>
          <p:cNvPr id="12" name="Text 10"/>
          <p:cNvSpPr/>
          <p:nvPr/>
        </p:nvSpPr>
        <p:spPr>
          <a:xfrm>
            <a:off x="2029968" y="1993392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 CDN — Frontend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029968" y="2267712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Vite build estático distribuido globalmente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955280" y="2121408"/>
            <a:ext cx="731520" cy="292608"/>
          </a:xfrm>
          <a:prstGeom prst="rect">
            <a:avLst/>
          </a:prstGeom>
          <a:solidFill>
            <a:srgbClr val="0056B3"/>
          </a:solidFill>
          <a:ln w="12700">
            <a:solidFill>
              <a:srgbClr val="0056B3"/>
            </a:solidFill>
            <a:prstDash val="solid"/>
          </a:ln>
        </p:spPr>
        <p:txBody>
          <a:bodyPr/>
          <a:lstStyle/>
          <a:p>
            <a:endParaRPr lang="en-150"/>
          </a:p>
        </p:txBody>
      </p:sp>
      <p:sp>
        <p:nvSpPr>
          <p:cNvPr id="15" name="Text 13"/>
          <p:cNvSpPr/>
          <p:nvPr/>
        </p:nvSpPr>
        <p:spPr>
          <a:xfrm>
            <a:off x="7955280" y="2121408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PaaS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1828800" y="2916936"/>
            <a:ext cx="59436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0F766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150"/>
          </a:p>
        </p:txBody>
      </p:sp>
      <p:sp>
        <p:nvSpPr>
          <p:cNvPr id="17" name="Shape 15"/>
          <p:cNvSpPr/>
          <p:nvPr/>
        </p:nvSpPr>
        <p:spPr>
          <a:xfrm>
            <a:off x="1828800" y="2916936"/>
            <a:ext cx="109728" cy="74980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150"/>
          </a:p>
        </p:txBody>
      </p:sp>
      <p:sp>
        <p:nvSpPr>
          <p:cNvPr id="18" name="Text 16"/>
          <p:cNvSpPr/>
          <p:nvPr/>
        </p:nvSpPr>
        <p:spPr>
          <a:xfrm>
            <a:off x="2029968" y="297180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Railway JVM — Backend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029968" y="3246120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3 JAR · Java 17 · Puerto auto Railway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955280" y="3099816"/>
            <a:ext cx="731520" cy="29260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150"/>
          </a:p>
        </p:txBody>
      </p:sp>
      <p:sp>
        <p:nvSpPr>
          <p:cNvPr id="21" name="Text 19"/>
          <p:cNvSpPr/>
          <p:nvPr/>
        </p:nvSpPr>
        <p:spPr>
          <a:xfrm>
            <a:off x="7955280" y="3099816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PaaS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1828800" y="3895344"/>
            <a:ext cx="59436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92400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150"/>
          </a:p>
        </p:txBody>
      </p:sp>
      <p:sp>
        <p:nvSpPr>
          <p:cNvPr id="23" name="Shape 21"/>
          <p:cNvSpPr/>
          <p:nvPr/>
        </p:nvSpPr>
        <p:spPr>
          <a:xfrm>
            <a:off x="1828800" y="3895344"/>
            <a:ext cx="109728" cy="749808"/>
          </a:xfrm>
          <a:prstGeom prst="rect">
            <a:avLst/>
          </a:prstGeom>
          <a:solidFill>
            <a:srgbClr val="92400E"/>
          </a:solidFill>
          <a:ln w="12700">
            <a:solidFill>
              <a:srgbClr val="92400E"/>
            </a:solidFill>
            <a:prstDash val="solid"/>
          </a:ln>
        </p:spPr>
        <p:txBody>
          <a:bodyPr/>
          <a:lstStyle/>
          <a:p>
            <a:endParaRPr lang="en-150"/>
          </a:p>
        </p:txBody>
      </p:sp>
      <p:sp>
        <p:nvSpPr>
          <p:cNvPr id="24" name="Text 22"/>
          <p:cNvSpPr/>
          <p:nvPr/>
        </p:nvSpPr>
        <p:spPr>
          <a:xfrm>
            <a:off x="2029968" y="395020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Railway MySQL 8 — Base de Datos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2029968" y="4224528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tablas: usuarios, servicios, disponibilidad, reservas, categorias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955280" y="4078224"/>
            <a:ext cx="731520" cy="292608"/>
          </a:xfrm>
          <a:prstGeom prst="rect">
            <a:avLst/>
          </a:prstGeom>
          <a:solidFill>
            <a:srgbClr val="92400E"/>
          </a:solidFill>
          <a:ln w="12700">
            <a:solidFill>
              <a:srgbClr val="92400E"/>
            </a:solidFill>
            <a:prstDash val="solid"/>
          </a:ln>
        </p:spPr>
        <p:txBody>
          <a:bodyPr/>
          <a:lstStyle/>
          <a:p>
            <a:endParaRPr lang="en-150"/>
          </a:p>
        </p:txBody>
      </p:sp>
      <p:sp>
        <p:nvSpPr>
          <p:cNvPr id="27" name="Text 25"/>
          <p:cNvSpPr/>
          <p:nvPr/>
        </p:nvSpPr>
        <p:spPr>
          <a:xfrm>
            <a:off x="7955280" y="4078224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PaaS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754880" y="1709928"/>
            <a:ext cx="54864" cy="228600"/>
          </a:xfrm>
          <a:prstGeom prst="rect">
            <a:avLst/>
          </a:prstGeom>
          <a:solidFill>
            <a:srgbClr val="C8E600"/>
          </a:solidFill>
          <a:ln w="12700">
            <a:solidFill>
              <a:srgbClr val="C8E600"/>
            </a:solidFill>
            <a:prstDash val="solid"/>
          </a:ln>
        </p:spPr>
        <p:txBody>
          <a:bodyPr/>
          <a:lstStyle/>
          <a:p>
            <a:endParaRPr lang="en-150"/>
          </a:p>
        </p:txBody>
      </p:sp>
      <p:sp>
        <p:nvSpPr>
          <p:cNvPr id="29" name="Text 27"/>
          <p:cNvSpPr/>
          <p:nvPr/>
        </p:nvSpPr>
        <p:spPr>
          <a:xfrm>
            <a:off x="4892040" y="1728216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754880" y="2688336"/>
            <a:ext cx="54864" cy="228600"/>
          </a:xfrm>
          <a:prstGeom prst="rect">
            <a:avLst/>
          </a:prstGeom>
          <a:solidFill>
            <a:srgbClr val="C8E600"/>
          </a:solidFill>
          <a:ln w="12700">
            <a:solidFill>
              <a:srgbClr val="C8E600"/>
            </a:solidFill>
            <a:prstDash val="solid"/>
          </a:ln>
        </p:spPr>
        <p:txBody>
          <a:bodyPr/>
          <a:lstStyle/>
          <a:p>
            <a:endParaRPr lang="en-150"/>
          </a:p>
        </p:txBody>
      </p:sp>
      <p:sp>
        <p:nvSpPr>
          <p:cNvPr id="31" name="Text 29"/>
          <p:cNvSpPr/>
          <p:nvPr/>
        </p:nvSpPr>
        <p:spPr>
          <a:xfrm>
            <a:off x="4892040" y="2706624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 REST :8080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754880" y="3666744"/>
            <a:ext cx="54864" cy="228600"/>
          </a:xfrm>
          <a:prstGeom prst="rect">
            <a:avLst/>
          </a:prstGeom>
          <a:solidFill>
            <a:srgbClr val="C8E600"/>
          </a:solidFill>
          <a:ln w="12700">
            <a:solidFill>
              <a:srgbClr val="C8E600"/>
            </a:solidFill>
            <a:prstDash val="solid"/>
          </a:ln>
        </p:spPr>
        <p:txBody>
          <a:bodyPr/>
          <a:lstStyle/>
          <a:p>
            <a:endParaRPr lang="en-150"/>
          </a:p>
        </p:txBody>
      </p:sp>
      <p:sp>
        <p:nvSpPr>
          <p:cNvPr id="33" name="Text 31"/>
          <p:cNvSpPr/>
          <p:nvPr/>
        </p:nvSpPr>
        <p:spPr>
          <a:xfrm>
            <a:off x="4892040" y="3685032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JDBC interno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182880" y="1920240"/>
            <a:ext cx="1463040" cy="914400"/>
          </a:xfrm>
          <a:prstGeom prst="rect">
            <a:avLst/>
          </a:prstGeom>
          <a:solidFill>
            <a:srgbClr val="1F2937"/>
          </a:solidFill>
          <a:ln w="12700">
            <a:solidFill>
              <a:srgbClr val="64748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150"/>
          </a:p>
        </p:txBody>
      </p:sp>
      <p:sp>
        <p:nvSpPr>
          <p:cNvPr id="35" name="Text 33"/>
          <p:cNvSpPr/>
          <p:nvPr/>
        </p:nvSpPr>
        <p:spPr>
          <a:xfrm>
            <a:off x="182880" y="192024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auto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push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1645920" y="2377440"/>
            <a:ext cx="182880" cy="0"/>
          </a:xfrm>
          <a:prstGeom prst="line">
            <a:avLst/>
          </a:prstGeom>
          <a:noFill/>
          <a:ln w="19050">
            <a:solidFill>
              <a:srgbClr val="C8E600"/>
            </a:solidFill>
            <a:prstDash val="solid"/>
          </a:ln>
        </p:spPr>
        <p:txBody>
          <a:bodyPr/>
          <a:lstStyle/>
          <a:p>
            <a:endParaRPr lang="en-15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3D7E"/>
          </a:solidFill>
          <a:ln w="12700">
            <a:solidFill>
              <a:srgbClr val="003D7E"/>
            </a:solidFill>
            <a:prstDash val="solid"/>
          </a:ln>
        </p:spPr>
        <p:txBody>
          <a:bodyPr/>
          <a:lstStyle/>
          <a:p>
            <a:endParaRPr lang="en-150"/>
          </a:p>
        </p:txBody>
      </p:sp>
      <p:sp>
        <p:nvSpPr>
          <p:cNvPr id="3" name="Text 1"/>
          <p:cNvSpPr/>
          <p:nvPr/>
        </p:nvSpPr>
        <p:spPr>
          <a:xfrm>
            <a:off x="274320" y="4572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EP2 — </a:t>
            </a:r>
            <a:r>
              <a:rPr lang="en-US" sz="2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Direcciones</a:t>
            </a: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API REST Implementados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28600" y="960120"/>
            <a:ext cx="8686800" cy="438912"/>
          </a:xfrm>
          <a:prstGeom prst="rect">
            <a:avLst/>
          </a:prstGeom>
          <a:solidFill>
            <a:srgbClr val="141F35"/>
          </a:solidFill>
          <a:ln w="12700">
            <a:solidFill>
              <a:srgbClr val="1E2D4A"/>
            </a:solidFill>
            <a:prstDash val="solid"/>
          </a:ln>
        </p:spPr>
        <p:txBody>
          <a:bodyPr/>
          <a:lstStyle/>
          <a:p>
            <a:endParaRPr lang="en-150"/>
          </a:p>
        </p:txBody>
      </p:sp>
      <p:sp>
        <p:nvSpPr>
          <p:cNvPr id="5" name="Shape 3"/>
          <p:cNvSpPr/>
          <p:nvPr/>
        </p:nvSpPr>
        <p:spPr>
          <a:xfrm>
            <a:off x="274320" y="1033272"/>
            <a:ext cx="658368" cy="292608"/>
          </a:xfrm>
          <a:prstGeom prst="rect">
            <a:avLst/>
          </a:prstGeom>
          <a:solidFill>
            <a:srgbClr val="003D7E"/>
          </a:solidFill>
          <a:ln w="12700">
            <a:solidFill>
              <a:srgbClr val="003D7E"/>
            </a:solidFill>
            <a:prstDash val="solid"/>
          </a:ln>
        </p:spPr>
        <p:txBody>
          <a:bodyPr/>
          <a:lstStyle/>
          <a:p>
            <a:endParaRPr lang="en-150"/>
          </a:p>
        </p:txBody>
      </p:sp>
      <p:sp>
        <p:nvSpPr>
          <p:cNvPr id="6" name="Text 4"/>
          <p:cNvSpPr/>
          <p:nvPr/>
        </p:nvSpPr>
        <p:spPr>
          <a:xfrm>
            <a:off x="274320" y="1033272"/>
            <a:ext cx="658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05840" y="105156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8E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/api/v1/auth/registro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251960" y="105156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OK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212080" y="105156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con BCrypt · Valida correo duplicado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28600" y="1472184"/>
            <a:ext cx="8686800" cy="438912"/>
          </a:xfrm>
          <a:prstGeom prst="rect">
            <a:avLst/>
          </a:prstGeom>
          <a:solidFill>
            <a:srgbClr val="0D1628"/>
          </a:solidFill>
          <a:ln w="12700">
            <a:solidFill>
              <a:srgbClr val="1E2D4A"/>
            </a:solidFill>
            <a:prstDash val="solid"/>
          </a:ln>
        </p:spPr>
        <p:txBody>
          <a:bodyPr/>
          <a:lstStyle/>
          <a:p>
            <a:endParaRPr lang="en-150"/>
          </a:p>
        </p:txBody>
      </p:sp>
      <p:sp>
        <p:nvSpPr>
          <p:cNvPr id="11" name="Shape 9"/>
          <p:cNvSpPr/>
          <p:nvPr/>
        </p:nvSpPr>
        <p:spPr>
          <a:xfrm>
            <a:off x="274320" y="1545336"/>
            <a:ext cx="658368" cy="292608"/>
          </a:xfrm>
          <a:prstGeom prst="rect">
            <a:avLst/>
          </a:prstGeom>
          <a:solidFill>
            <a:srgbClr val="003D7E"/>
          </a:solidFill>
          <a:ln w="12700">
            <a:solidFill>
              <a:srgbClr val="003D7E"/>
            </a:solidFill>
            <a:prstDash val="solid"/>
          </a:ln>
        </p:spPr>
        <p:txBody>
          <a:bodyPr/>
          <a:lstStyle/>
          <a:p>
            <a:endParaRPr lang="en-150"/>
          </a:p>
        </p:txBody>
      </p:sp>
      <p:sp>
        <p:nvSpPr>
          <p:cNvPr id="12" name="Text 10"/>
          <p:cNvSpPr/>
          <p:nvPr/>
        </p:nvSpPr>
        <p:spPr>
          <a:xfrm>
            <a:off x="274320" y="1545336"/>
            <a:ext cx="658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005840" y="156362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8E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/api/v1/auth/login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251960" y="156362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JWT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212080" y="156362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Autenticación · Retorna token + objeto usuario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28600" y="1984248"/>
            <a:ext cx="8686800" cy="438912"/>
          </a:xfrm>
          <a:prstGeom prst="rect">
            <a:avLst/>
          </a:prstGeom>
          <a:solidFill>
            <a:srgbClr val="141F35"/>
          </a:solidFill>
          <a:ln w="12700">
            <a:solidFill>
              <a:srgbClr val="1E2D4A"/>
            </a:solidFill>
            <a:prstDash val="solid"/>
          </a:ln>
        </p:spPr>
        <p:txBody>
          <a:bodyPr/>
          <a:lstStyle/>
          <a:p>
            <a:endParaRPr lang="en-150"/>
          </a:p>
        </p:txBody>
      </p:sp>
      <p:sp>
        <p:nvSpPr>
          <p:cNvPr id="17" name="Shape 15"/>
          <p:cNvSpPr/>
          <p:nvPr/>
        </p:nvSpPr>
        <p:spPr>
          <a:xfrm>
            <a:off x="274320" y="2057400"/>
            <a:ext cx="658368" cy="29260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150"/>
          </a:p>
        </p:txBody>
      </p:sp>
      <p:sp>
        <p:nvSpPr>
          <p:cNvPr id="18" name="Text 16"/>
          <p:cNvSpPr/>
          <p:nvPr/>
        </p:nvSpPr>
        <p:spPr>
          <a:xfrm>
            <a:off x="274320" y="2057400"/>
            <a:ext cx="658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005840" y="207568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8E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/api/v1/servicios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251960" y="207568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OK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212080" y="207568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 servicios activos del catálogo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28600" y="2496312"/>
            <a:ext cx="8686800" cy="438912"/>
          </a:xfrm>
          <a:prstGeom prst="rect">
            <a:avLst/>
          </a:prstGeom>
          <a:solidFill>
            <a:srgbClr val="0D1628"/>
          </a:solidFill>
          <a:ln w="12700">
            <a:solidFill>
              <a:srgbClr val="1E2D4A"/>
            </a:solidFill>
            <a:prstDash val="solid"/>
          </a:ln>
        </p:spPr>
        <p:txBody>
          <a:bodyPr/>
          <a:lstStyle/>
          <a:p>
            <a:endParaRPr lang="en-150"/>
          </a:p>
        </p:txBody>
      </p:sp>
      <p:sp>
        <p:nvSpPr>
          <p:cNvPr id="23" name="Shape 21"/>
          <p:cNvSpPr/>
          <p:nvPr/>
        </p:nvSpPr>
        <p:spPr>
          <a:xfrm>
            <a:off x="274320" y="2569464"/>
            <a:ext cx="658368" cy="29260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150"/>
          </a:p>
        </p:txBody>
      </p:sp>
      <p:sp>
        <p:nvSpPr>
          <p:cNvPr id="24" name="Text 22"/>
          <p:cNvSpPr/>
          <p:nvPr/>
        </p:nvSpPr>
        <p:spPr>
          <a:xfrm>
            <a:off x="274320" y="2569464"/>
            <a:ext cx="658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005840" y="258775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8E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/api/v1/disponibilidad/consultar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251960" y="258775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OK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212080" y="258775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 12 </a:t>
            </a:r>
            <a:r>
              <a:rPr lang="en-US" sz="100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bloques</a:t>
            </a: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horarios</a:t>
            </a: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si no existen para la fecha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28600" y="3008376"/>
            <a:ext cx="8686800" cy="438912"/>
          </a:xfrm>
          <a:prstGeom prst="rect">
            <a:avLst/>
          </a:prstGeom>
          <a:solidFill>
            <a:srgbClr val="141F35"/>
          </a:solidFill>
          <a:ln w="12700">
            <a:solidFill>
              <a:srgbClr val="1E2D4A"/>
            </a:solidFill>
            <a:prstDash val="solid"/>
          </a:ln>
        </p:spPr>
        <p:txBody>
          <a:bodyPr/>
          <a:lstStyle/>
          <a:p>
            <a:endParaRPr lang="en-150"/>
          </a:p>
        </p:txBody>
      </p:sp>
      <p:sp>
        <p:nvSpPr>
          <p:cNvPr id="29" name="Shape 27"/>
          <p:cNvSpPr/>
          <p:nvPr/>
        </p:nvSpPr>
        <p:spPr>
          <a:xfrm>
            <a:off x="274320" y="3081528"/>
            <a:ext cx="658368" cy="292608"/>
          </a:xfrm>
          <a:prstGeom prst="rect">
            <a:avLst/>
          </a:prstGeom>
          <a:solidFill>
            <a:srgbClr val="003D7E"/>
          </a:solidFill>
          <a:ln w="12700">
            <a:solidFill>
              <a:srgbClr val="003D7E"/>
            </a:solidFill>
            <a:prstDash val="solid"/>
          </a:ln>
        </p:spPr>
        <p:txBody>
          <a:bodyPr/>
          <a:lstStyle/>
          <a:p>
            <a:endParaRPr lang="en-150"/>
          </a:p>
        </p:txBody>
      </p:sp>
      <p:sp>
        <p:nvSpPr>
          <p:cNvPr id="30" name="Text 28"/>
          <p:cNvSpPr/>
          <p:nvPr/>
        </p:nvSpPr>
        <p:spPr>
          <a:xfrm>
            <a:off x="274320" y="3081528"/>
            <a:ext cx="658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005840" y="3099816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8E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/api/v1/reservas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251960" y="3099816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 Created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212080" y="309981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 cupos · Incrementa cuposOcupados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228600" y="3520440"/>
            <a:ext cx="8686800" cy="438912"/>
          </a:xfrm>
          <a:prstGeom prst="rect">
            <a:avLst/>
          </a:prstGeom>
          <a:solidFill>
            <a:srgbClr val="0D1628"/>
          </a:solidFill>
          <a:ln w="12700">
            <a:solidFill>
              <a:srgbClr val="1E2D4A"/>
            </a:solidFill>
            <a:prstDash val="solid"/>
          </a:ln>
        </p:spPr>
        <p:txBody>
          <a:bodyPr/>
          <a:lstStyle/>
          <a:p>
            <a:endParaRPr lang="en-150"/>
          </a:p>
        </p:txBody>
      </p:sp>
      <p:sp>
        <p:nvSpPr>
          <p:cNvPr id="35" name="Shape 33"/>
          <p:cNvSpPr/>
          <p:nvPr/>
        </p:nvSpPr>
        <p:spPr>
          <a:xfrm>
            <a:off x="274320" y="3593592"/>
            <a:ext cx="658368" cy="29260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150"/>
          </a:p>
        </p:txBody>
      </p:sp>
      <p:sp>
        <p:nvSpPr>
          <p:cNvPr id="36" name="Text 34"/>
          <p:cNvSpPr/>
          <p:nvPr/>
        </p:nvSpPr>
        <p:spPr>
          <a:xfrm>
            <a:off x="274320" y="3593592"/>
            <a:ext cx="658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1005840" y="361188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8E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/api/v1/reservas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251960" y="361188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OK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212080" y="361188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 todas las reservas (panel admin)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228600" y="4032504"/>
            <a:ext cx="8686800" cy="438912"/>
          </a:xfrm>
          <a:prstGeom prst="rect">
            <a:avLst/>
          </a:prstGeom>
          <a:solidFill>
            <a:srgbClr val="141F35"/>
          </a:solidFill>
          <a:ln w="12700">
            <a:solidFill>
              <a:srgbClr val="1E2D4A"/>
            </a:solidFill>
            <a:prstDash val="solid"/>
          </a:ln>
        </p:spPr>
        <p:txBody>
          <a:bodyPr/>
          <a:lstStyle/>
          <a:p>
            <a:endParaRPr lang="en-150"/>
          </a:p>
        </p:txBody>
      </p:sp>
      <p:sp>
        <p:nvSpPr>
          <p:cNvPr id="41" name="Shape 39"/>
          <p:cNvSpPr/>
          <p:nvPr/>
        </p:nvSpPr>
        <p:spPr>
          <a:xfrm>
            <a:off x="274320" y="4105656"/>
            <a:ext cx="658368" cy="2926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150"/>
          </a:p>
        </p:txBody>
      </p:sp>
      <p:sp>
        <p:nvSpPr>
          <p:cNvPr id="42" name="Text 40"/>
          <p:cNvSpPr/>
          <p:nvPr/>
        </p:nvSpPr>
        <p:spPr>
          <a:xfrm>
            <a:off x="274320" y="4105656"/>
            <a:ext cx="658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1005840" y="412394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8E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/api/v1/reservas/{id}/cancelar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4251960" y="412394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OK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5212080" y="412394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Cancela y libera cupo en disponibilidad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228600" y="4544568"/>
            <a:ext cx="8686800" cy="438912"/>
          </a:xfrm>
          <a:prstGeom prst="rect">
            <a:avLst/>
          </a:prstGeom>
          <a:solidFill>
            <a:srgbClr val="0D1628"/>
          </a:solidFill>
          <a:ln w="12700">
            <a:solidFill>
              <a:srgbClr val="1E2D4A"/>
            </a:solidFill>
            <a:prstDash val="solid"/>
          </a:ln>
        </p:spPr>
        <p:txBody>
          <a:bodyPr/>
          <a:lstStyle/>
          <a:p>
            <a:endParaRPr lang="en-150"/>
          </a:p>
        </p:txBody>
      </p:sp>
      <p:sp>
        <p:nvSpPr>
          <p:cNvPr id="47" name="Shape 45"/>
          <p:cNvSpPr/>
          <p:nvPr/>
        </p:nvSpPr>
        <p:spPr>
          <a:xfrm>
            <a:off x="274320" y="4617720"/>
            <a:ext cx="658368" cy="29260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150"/>
          </a:p>
        </p:txBody>
      </p:sp>
      <p:sp>
        <p:nvSpPr>
          <p:cNvPr id="48" name="Text 46"/>
          <p:cNvSpPr/>
          <p:nvPr/>
        </p:nvSpPr>
        <p:spPr>
          <a:xfrm>
            <a:off x="274320" y="4617720"/>
            <a:ext cx="658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1005840" y="463600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8E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/api/v1/usuarios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4251960" y="463600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OK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5212080" y="463600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Directorio de usuarios (sin passwordHash)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365760" y="4918202"/>
            <a:ext cx="8686800" cy="347472"/>
          </a:xfrm>
          <a:prstGeom prst="rect">
            <a:avLst/>
          </a:prstGeom>
          <a:solidFill>
            <a:srgbClr val="0D2B5E"/>
          </a:solidFill>
          <a:ln w="12700">
            <a:solidFill>
              <a:srgbClr val="1A73E8"/>
            </a:solidFill>
            <a:prstDash val="solid"/>
          </a:ln>
        </p:spPr>
        <p:txBody>
          <a:bodyPr/>
          <a:lstStyle/>
          <a:p>
            <a:endParaRPr lang="en-150" dirty="0"/>
          </a:p>
        </p:txBody>
      </p:sp>
      <p:sp>
        <p:nvSpPr>
          <p:cNvPr id="53" name="Text 51"/>
          <p:cNvSpPr/>
          <p:nvPr/>
        </p:nvSpPr>
        <p:spPr>
          <a:xfrm>
            <a:off x="365760" y="5046853"/>
            <a:ext cx="8229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i="1" dirty="0">
                <a:solidFill>
                  <a:srgbClr val="C8E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Swagger UI disponible en:  </a:t>
            </a:r>
            <a:r>
              <a:rPr lang="en-US" sz="1100" i="1" dirty="0">
                <a:solidFill>
                  <a:srgbClr val="C8E6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/>
              </a:rPr>
              <a:t>http://localhost:8080/swagger-ui/index.html</a:t>
            </a:r>
            <a:r>
              <a:rPr lang="en-US" sz="1100" i="1" dirty="0">
                <a:solidFill>
                  <a:srgbClr val="C8E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/</a:t>
            </a:r>
            <a:r>
              <a:rPr lang="en-150" sz="1000" dirty="0">
                <a:hlinkClick r:id="rId4" tooltip="https://cfd-servicios-de-limpieza-production.up.railway.app/swagger-ui.html"/>
              </a:rPr>
              <a:t>https://cfd-servicios-de-limpieza-production.up.railway.app/swagger-ui.html</a:t>
            </a:r>
            <a:endParaRPr lang="en-150" sz="1000" dirty="0"/>
          </a:p>
          <a:p>
            <a:pPr marL="0" indent="0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3D7E"/>
          </a:solidFill>
          <a:ln w="12700">
            <a:solidFill>
              <a:srgbClr val="003D7E"/>
            </a:solidFill>
            <a:prstDash val="solid"/>
          </a:ln>
        </p:spPr>
        <p:txBody>
          <a:bodyPr/>
          <a:lstStyle/>
          <a:p>
            <a:endParaRPr lang="en-150"/>
          </a:p>
        </p:txBody>
      </p:sp>
      <p:sp>
        <p:nvSpPr>
          <p:cNvPr id="3" name="Text 1"/>
          <p:cNvSpPr/>
          <p:nvPr/>
        </p:nvSpPr>
        <p:spPr>
          <a:xfrm>
            <a:off x="274320" y="4572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EP2 — Diagrama de Actividad: Flujo de Agendamiento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137160" y="960120"/>
            <a:ext cx="2834640" cy="32918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150"/>
          </a:p>
        </p:txBody>
      </p:sp>
      <p:sp>
        <p:nvSpPr>
          <p:cNvPr id="5" name="Text 3"/>
          <p:cNvSpPr/>
          <p:nvPr/>
        </p:nvSpPr>
        <p:spPr>
          <a:xfrm>
            <a:off x="137160" y="9601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154680" y="960120"/>
            <a:ext cx="2834640" cy="329184"/>
          </a:xfrm>
          <a:prstGeom prst="rect">
            <a:avLst/>
          </a:prstGeom>
          <a:solidFill>
            <a:srgbClr val="0056B3"/>
          </a:solidFill>
          <a:ln w="12700">
            <a:solidFill>
              <a:srgbClr val="0056B3"/>
            </a:solidFill>
            <a:prstDash val="solid"/>
          </a:ln>
        </p:spPr>
        <p:txBody>
          <a:bodyPr/>
          <a:lstStyle/>
          <a:p>
            <a:endParaRPr lang="en-150"/>
          </a:p>
        </p:txBody>
      </p:sp>
      <p:sp>
        <p:nvSpPr>
          <p:cNvPr id="7" name="Text 5"/>
          <p:cNvSpPr/>
          <p:nvPr/>
        </p:nvSpPr>
        <p:spPr>
          <a:xfrm>
            <a:off x="3154680" y="9601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React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172200" y="960120"/>
            <a:ext cx="2834640" cy="329184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n-150"/>
          </a:p>
        </p:txBody>
      </p:sp>
      <p:sp>
        <p:nvSpPr>
          <p:cNvPr id="9" name="Text 7"/>
          <p:cNvSpPr/>
          <p:nvPr/>
        </p:nvSpPr>
        <p:spPr>
          <a:xfrm>
            <a:off x="6172200" y="9601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/ BD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37160" y="1289304"/>
            <a:ext cx="2834640" cy="3685032"/>
          </a:xfrm>
          <a:prstGeom prst="rect">
            <a:avLst/>
          </a:prstGeom>
          <a:solidFill>
            <a:srgbClr val="DCFCE7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150"/>
          </a:p>
        </p:txBody>
      </p:sp>
      <p:sp>
        <p:nvSpPr>
          <p:cNvPr id="11" name="Shape 9"/>
          <p:cNvSpPr/>
          <p:nvPr/>
        </p:nvSpPr>
        <p:spPr>
          <a:xfrm>
            <a:off x="3154680" y="1289304"/>
            <a:ext cx="2834640" cy="3685032"/>
          </a:xfrm>
          <a:prstGeom prst="rect">
            <a:avLst/>
          </a:prstGeom>
          <a:solidFill>
            <a:srgbClr val="EBF3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150"/>
          </a:p>
        </p:txBody>
      </p:sp>
      <p:sp>
        <p:nvSpPr>
          <p:cNvPr id="12" name="Shape 10"/>
          <p:cNvSpPr/>
          <p:nvPr/>
        </p:nvSpPr>
        <p:spPr>
          <a:xfrm>
            <a:off x="6172200" y="1289304"/>
            <a:ext cx="2834640" cy="3685032"/>
          </a:xfrm>
          <a:prstGeom prst="rect">
            <a:avLst/>
          </a:prstGeom>
          <a:solidFill>
            <a:srgbClr val="FEF3C7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150"/>
          </a:p>
        </p:txBody>
      </p:sp>
      <p:sp>
        <p:nvSpPr>
          <p:cNvPr id="13" name="Shape 11"/>
          <p:cNvSpPr/>
          <p:nvPr/>
        </p:nvSpPr>
        <p:spPr>
          <a:xfrm>
            <a:off x="228600" y="1389888"/>
            <a:ext cx="26517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16A3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150"/>
          </a:p>
        </p:txBody>
      </p:sp>
      <p:sp>
        <p:nvSpPr>
          <p:cNvPr id="14" name="Shape 12"/>
          <p:cNvSpPr/>
          <p:nvPr/>
        </p:nvSpPr>
        <p:spPr>
          <a:xfrm>
            <a:off x="228600" y="1389888"/>
            <a:ext cx="73152" cy="71323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150"/>
          </a:p>
        </p:txBody>
      </p:sp>
      <p:sp>
        <p:nvSpPr>
          <p:cNvPr id="15" name="Text 13"/>
          <p:cNvSpPr/>
          <p:nvPr/>
        </p:nvSpPr>
        <p:spPr>
          <a:xfrm>
            <a:off x="374904" y="1463040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Selecciona servicio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y elige fecha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46120" y="1389888"/>
            <a:ext cx="26517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0056B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150"/>
          </a:p>
        </p:txBody>
      </p:sp>
      <p:sp>
        <p:nvSpPr>
          <p:cNvPr id="17" name="Shape 15"/>
          <p:cNvSpPr/>
          <p:nvPr/>
        </p:nvSpPr>
        <p:spPr>
          <a:xfrm>
            <a:off x="3246120" y="1389888"/>
            <a:ext cx="73152" cy="713232"/>
          </a:xfrm>
          <a:prstGeom prst="rect">
            <a:avLst/>
          </a:prstGeom>
          <a:solidFill>
            <a:srgbClr val="0056B3"/>
          </a:solidFill>
          <a:ln w="12700">
            <a:solidFill>
              <a:srgbClr val="0056B3"/>
            </a:solidFill>
            <a:prstDash val="solid"/>
          </a:ln>
        </p:spPr>
        <p:txBody>
          <a:bodyPr/>
          <a:lstStyle/>
          <a:p>
            <a:endParaRPr lang="en-150"/>
          </a:p>
        </p:txBody>
      </p:sp>
      <p:sp>
        <p:nvSpPr>
          <p:cNvPr id="18" name="Text 16"/>
          <p:cNvSpPr/>
          <p:nvPr/>
        </p:nvSpPr>
        <p:spPr>
          <a:xfrm>
            <a:off x="3392424" y="1463040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Consulta disponibilidad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GET /disponibilidad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263640" y="1389888"/>
            <a:ext cx="26517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A580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150"/>
          </a:p>
        </p:txBody>
      </p:sp>
      <p:sp>
        <p:nvSpPr>
          <p:cNvPr id="20" name="Shape 18"/>
          <p:cNvSpPr/>
          <p:nvPr/>
        </p:nvSpPr>
        <p:spPr>
          <a:xfrm>
            <a:off x="6263640" y="1389888"/>
            <a:ext cx="73152" cy="713232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n-150"/>
          </a:p>
        </p:txBody>
      </p:sp>
      <p:sp>
        <p:nvSpPr>
          <p:cNvPr id="21" name="Text 19"/>
          <p:cNvSpPr/>
          <p:nvPr/>
        </p:nvSpPr>
        <p:spPr>
          <a:xfrm>
            <a:off x="6409944" y="1463040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</a:t>
            </a:r>
            <a:r>
              <a:rPr lang="en-US" sz="11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12 </a:t>
            </a:r>
            <a:r>
              <a:rPr lang="en-US" sz="11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bloques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1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horario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si no existen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28600" y="2331720"/>
            <a:ext cx="26517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16A3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150"/>
          </a:p>
        </p:txBody>
      </p:sp>
      <p:sp>
        <p:nvSpPr>
          <p:cNvPr id="23" name="Shape 21"/>
          <p:cNvSpPr/>
          <p:nvPr/>
        </p:nvSpPr>
        <p:spPr>
          <a:xfrm>
            <a:off x="228600" y="2331720"/>
            <a:ext cx="73152" cy="71323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150"/>
          </a:p>
        </p:txBody>
      </p:sp>
      <p:sp>
        <p:nvSpPr>
          <p:cNvPr id="24" name="Text 22"/>
          <p:cNvSpPr/>
          <p:nvPr/>
        </p:nvSpPr>
        <p:spPr>
          <a:xfrm>
            <a:off x="374904" y="2404872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Selecciona bloque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horario libre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246120" y="2331720"/>
            <a:ext cx="26517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0056B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150"/>
          </a:p>
        </p:txBody>
      </p:sp>
      <p:sp>
        <p:nvSpPr>
          <p:cNvPr id="26" name="Shape 24"/>
          <p:cNvSpPr/>
          <p:nvPr/>
        </p:nvSpPr>
        <p:spPr>
          <a:xfrm>
            <a:off x="3246120" y="2331720"/>
            <a:ext cx="73152" cy="713232"/>
          </a:xfrm>
          <a:prstGeom prst="rect">
            <a:avLst/>
          </a:prstGeom>
          <a:solidFill>
            <a:srgbClr val="0056B3"/>
          </a:solidFill>
          <a:ln w="12700">
            <a:solidFill>
              <a:srgbClr val="0056B3"/>
            </a:solidFill>
            <a:prstDash val="solid"/>
          </a:ln>
        </p:spPr>
        <p:txBody>
          <a:bodyPr/>
          <a:lstStyle/>
          <a:p>
            <a:endParaRPr lang="en-150"/>
          </a:p>
        </p:txBody>
      </p:sp>
      <p:sp>
        <p:nvSpPr>
          <p:cNvPr id="27" name="Text 25"/>
          <p:cNvSpPr/>
          <p:nvPr/>
        </p:nvSpPr>
        <p:spPr>
          <a:xfrm>
            <a:off x="3392424" y="2404872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Verifica sesión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en localStorage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28600" y="3273552"/>
            <a:ext cx="26517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16A3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150"/>
          </a:p>
        </p:txBody>
      </p:sp>
      <p:sp>
        <p:nvSpPr>
          <p:cNvPr id="29" name="Shape 27"/>
          <p:cNvSpPr/>
          <p:nvPr/>
        </p:nvSpPr>
        <p:spPr>
          <a:xfrm>
            <a:off x="228600" y="3273552"/>
            <a:ext cx="73152" cy="71323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150"/>
          </a:p>
        </p:txBody>
      </p:sp>
      <p:sp>
        <p:nvSpPr>
          <p:cNvPr id="30" name="Text 28"/>
          <p:cNvSpPr/>
          <p:nvPr/>
        </p:nvSpPr>
        <p:spPr>
          <a:xfrm>
            <a:off x="374904" y="3346704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Ingresa credenciales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(si sin sesión)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246120" y="3273552"/>
            <a:ext cx="26517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0056B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150"/>
          </a:p>
        </p:txBody>
      </p:sp>
      <p:sp>
        <p:nvSpPr>
          <p:cNvPr id="32" name="Shape 30"/>
          <p:cNvSpPr/>
          <p:nvPr/>
        </p:nvSpPr>
        <p:spPr>
          <a:xfrm>
            <a:off x="3246120" y="3273552"/>
            <a:ext cx="73152" cy="713232"/>
          </a:xfrm>
          <a:prstGeom prst="rect">
            <a:avLst/>
          </a:prstGeom>
          <a:solidFill>
            <a:srgbClr val="0056B3"/>
          </a:solidFill>
          <a:ln w="12700">
            <a:solidFill>
              <a:srgbClr val="0056B3"/>
            </a:solidFill>
            <a:prstDash val="solid"/>
          </a:ln>
        </p:spPr>
        <p:txBody>
          <a:bodyPr/>
          <a:lstStyle/>
          <a:p>
            <a:endParaRPr lang="en-150"/>
          </a:p>
        </p:txBody>
      </p:sp>
      <p:sp>
        <p:nvSpPr>
          <p:cNvPr id="33" name="Text 31"/>
          <p:cNvSpPr/>
          <p:nvPr/>
        </p:nvSpPr>
        <p:spPr>
          <a:xfrm>
            <a:off x="3392424" y="3346704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POST /auth/login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→ JWT + usuario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3246120" y="4160520"/>
            <a:ext cx="26517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0056B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150"/>
          </a:p>
        </p:txBody>
      </p:sp>
      <p:sp>
        <p:nvSpPr>
          <p:cNvPr id="35" name="Shape 33"/>
          <p:cNvSpPr/>
          <p:nvPr/>
        </p:nvSpPr>
        <p:spPr>
          <a:xfrm>
            <a:off x="3246120" y="4160520"/>
            <a:ext cx="73152" cy="713232"/>
          </a:xfrm>
          <a:prstGeom prst="rect">
            <a:avLst/>
          </a:prstGeom>
          <a:solidFill>
            <a:srgbClr val="0056B3"/>
          </a:solidFill>
          <a:ln w="12700">
            <a:solidFill>
              <a:srgbClr val="0056B3"/>
            </a:solidFill>
            <a:prstDash val="solid"/>
          </a:ln>
        </p:spPr>
        <p:txBody>
          <a:bodyPr/>
          <a:lstStyle/>
          <a:p>
            <a:endParaRPr lang="en-150"/>
          </a:p>
        </p:txBody>
      </p:sp>
      <p:sp>
        <p:nvSpPr>
          <p:cNvPr id="36" name="Text 34"/>
          <p:cNvSpPr/>
          <p:nvPr/>
        </p:nvSpPr>
        <p:spPr>
          <a:xfrm>
            <a:off x="3392424" y="4233672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POST /reservas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{usuarioId, dispId, servId}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263640" y="4160520"/>
            <a:ext cx="26517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A580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150"/>
          </a:p>
        </p:txBody>
      </p:sp>
      <p:sp>
        <p:nvSpPr>
          <p:cNvPr id="38" name="Shape 36"/>
          <p:cNvSpPr/>
          <p:nvPr/>
        </p:nvSpPr>
        <p:spPr>
          <a:xfrm>
            <a:off x="6263640" y="4160520"/>
            <a:ext cx="73152" cy="713232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n-150"/>
          </a:p>
        </p:txBody>
      </p:sp>
      <p:sp>
        <p:nvSpPr>
          <p:cNvPr id="39" name="Text 37"/>
          <p:cNvSpPr/>
          <p:nvPr/>
        </p:nvSpPr>
        <p:spPr>
          <a:xfrm>
            <a:off x="6409944" y="4233672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Valida cupos → DB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Estado: CONFIRMADA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2880360" y="1746504"/>
            <a:ext cx="365760" cy="0"/>
          </a:xfrm>
          <a:prstGeom prst="line">
            <a:avLst/>
          </a:prstGeom>
          <a:noFill/>
          <a:ln w="19050">
            <a:solidFill>
              <a:srgbClr val="003D7E"/>
            </a:solidFill>
            <a:prstDash val="solid"/>
          </a:ln>
        </p:spPr>
        <p:txBody>
          <a:bodyPr/>
          <a:lstStyle/>
          <a:p>
            <a:endParaRPr lang="en-150"/>
          </a:p>
        </p:txBody>
      </p:sp>
      <p:sp>
        <p:nvSpPr>
          <p:cNvPr id="41" name="Shape 39"/>
          <p:cNvSpPr/>
          <p:nvPr/>
        </p:nvSpPr>
        <p:spPr>
          <a:xfrm>
            <a:off x="5897880" y="1746504"/>
            <a:ext cx="365760" cy="0"/>
          </a:xfrm>
          <a:prstGeom prst="line">
            <a:avLst/>
          </a:prstGeom>
          <a:noFill/>
          <a:ln w="19050">
            <a:solidFill>
              <a:srgbClr val="003D7E"/>
            </a:solidFill>
            <a:prstDash val="solid"/>
          </a:ln>
        </p:spPr>
        <p:txBody>
          <a:bodyPr/>
          <a:lstStyle/>
          <a:p>
            <a:endParaRPr lang="en-150"/>
          </a:p>
        </p:txBody>
      </p:sp>
      <p:sp>
        <p:nvSpPr>
          <p:cNvPr id="42" name="Shape 40"/>
          <p:cNvSpPr/>
          <p:nvPr/>
        </p:nvSpPr>
        <p:spPr>
          <a:xfrm>
            <a:off x="2880360" y="3602736"/>
            <a:ext cx="365760" cy="0"/>
          </a:xfrm>
          <a:prstGeom prst="line">
            <a:avLst/>
          </a:prstGeom>
          <a:noFill/>
          <a:ln w="19050">
            <a:solidFill>
              <a:srgbClr val="003D7E"/>
            </a:solidFill>
            <a:prstDash val="solid"/>
          </a:ln>
        </p:spPr>
        <p:txBody>
          <a:bodyPr/>
          <a:lstStyle/>
          <a:p>
            <a:endParaRPr lang="en-150"/>
          </a:p>
        </p:txBody>
      </p:sp>
      <p:sp>
        <p:nvSpPr>
          <p:cNvPr id="43" name="Shape 41"/>
          <p:cNvSpPr/>
          <p:nvPr/>
        </p:nvSpPr>
        <p:spPr>
          <a:xfrm>
            <a:off x="5897880" y="4517136"/>
            <a:ext cx="365760" cy="0"/>
          </a:xfrm>
          <a:prstGeom prst="line">
            <a:avLst/>
          </a:prstGeom>
          <a:noFill/>
          <a:ln w="19050">
            <a:solidFill>
              <a:srgbClr val="003D7E"/>
            </a:solidFill>
            <a:prstDash val="solid"/>
          </a:ln>
        </p:spPr>
        <p:txBody>
          <a:bodyPr/>
          <a:lstStyle/>
          <a:p>
            <a:endParaRPr lang="en-15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3D7E"/>
          </a:solidFill>
          <a:ln w="12700">
            <a:solidFill>
              <a:srgbClr val="003D7E"/>
            </a:solidFill>
            <a:prstDash val="solid"/>
          </a:ln>
        </p:spPr>
        <p:txBody>
          <a:bodyPr/>
          <a:lstStyle/>
          <a:p>
            <a:endParaRPr lang="en-150" dirty="0"/>
          </a:p>
        </p:txBody>
      </p:sp>
      <p:sp>
        <p:nvSpPr>
          <p:cNvPr id="3" name="Text 1"/>
          <p:cNvSpPr/>
          <p:nvPr/>
        </p:nvSpPr>
        <p:spPr>
          <a:xfrm>
            <a:off x="274320" y="4572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EP2 — Configuración del Ambiente de </a:t>
            </a:r>
            <a:r>
              <a:rPr lang="en-US" sz="21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228600" y="960120"/>
            <a:ext cx="4023360" cy="38404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150"/>
          </a:p>
        </p:txBody>
      </p:sp>
      <p:sp>
        <p:nvSpPr>
          <p:cNvPr id="5" name="Text 3"/>
          <p:cNvSpPr/>
          <p:nvPr/>
        </p:nvSpPr>
        <p:spPr>
          <a:xfrm>
            <a:off x="274320" y="96012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  LOCAL — Ambiente de Pruebas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892040" y="960120"/>
            <a:ext cx="4023360" cy="384048"/>
          </a:xfrm>
          <a:prstGeom prst="rect">
            <a:avLst/>
          </a:prstGeom>
          <a:solidFill>
            <a:srgbClr val="003D7E"/>
          </a:solidFill>
          <a:ln w="12700">
            <a:solidFill>
              <a:srgbClr val="003D7E"/>
            </a:solidFill>
            <a:prstDash val="solid"/>
          </a:ln>
        </p:spPr>
        <p:txBody>
          <a:bodyPr/>
          <a:lstStyle/>
          <a:p>
            <a:endParaRPr lang="en-150"/>
          </a:p>
        </p:txBody>
      </p:sp>
      <p:sp>
        <p:nvSpPr>
          <p:cNvPr id="7" name="Text 5"/>
          <p:cNvSpPr/>
          <p:nvPr/>
        </p:nvSpPr>
        <p:spPr>
          <a:xfrm>
            <a:off x="4937760" y="96012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 PRODUCCIÓN — Railway Cloud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28600" y="1463040"/>
            <a:ext cx="40233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150"/>
          </a:p>
        </p:txBody>
      </p:sp>
      <p:sp>
        <p:nvSpPr>
          <p:cNvPr id="9" name="Text 7"/>
          <p:cNvSpPr/>
          <p:nvPr/>
        </p:nvSpPr>
        <p:spPr>
          <a:xfrm>
            <a:off x="347472" y="1517904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3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47472" y="173736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 Dev Server :5173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892040" y="1463040"/>
            <a:ext cx="40233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150"/>
          </a:p>
        </p:txBody>
      </p:sp>
      <p:sp>
        <p:nvSpPr>
          <p:cNvPr id="12" name="Text 10"/>
          <p:cNvSpPr/>
          <p:nvPr/>
        </p:nvSpPr>
        <p:spPr>
          <a:xfrm>
            <a:off x="5010912" y="1517904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3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10912" y="173736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 CDN — URL railway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279392" y="1554480"/>
            <a:ext cx="594360" cy="347472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150"/>
          </a:p>
        </p:txBody>
      </p:sp>
      <p:sp>
        <p:nvSpPr>
          <p:cNvPr id="15" name="Text 13"/>
          <p:cNvSpPr/>
          <p:nvPr/>
        </p:nvSpPr>
        <p:spPr>
          <a:xfrm>
            <a:off x="4279392" y="1554480"/>
            <a:ext cx="594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3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≡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228600" y="2084832"/>
            <a:ext cx="4023360" cy="53035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150"/>
          </a:p>
        </p:txBody>
      </p:sp>
      <p:sp>
        <p:nvSpPr>
          <p:cNvPr id="17" name="Text 15"/>
          <p:cNvSpPr/>
          <p:nvPr/>
        </p:nvSpPr>
        <p:spPr>
          <a:xfrm>
            <a:off x="347472" y="2139696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3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47472" y="2359152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:8080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892040" y="2084832"/>
            <a:ext cx="4023360" cy="53035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150"/>
          </a:p>
        </p:txBody>
      </p:sp>
      <p:sp>
        <p:nvSpPr>
          <p:cNvPr id="20" name="Text 18"/>
          <p:cNvSpPr/>
          <p:nvPr/>
        </p:nvSpPr>
        <p:spPr>
          <a:xfrm>
            <a:off x="5010912" y="2139696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3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010912" y="2359152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Railway JVM — puerto auto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279392" y="2176272"/>
            <a:ext cx="594360" cy="347472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150"/>
          </a:p>
        </p:txBody>
      </p:sp>
      <p:sp>
        <p:nvSpPr>
          <p:cNvPr id="23" name="Text 21"/>
          <p:cNvSpPr/>
          <p:nvPr/>
        </p:nvSpPr>
        <p:spPr>
          <a:xfrm>
            <a:off x="4279392" y="2176272"/>
            <a:ext cx="594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3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≡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228600" y="2706624"/>
            <a:ext cx="40233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150"/>
          </a:p>
        </p:txBody>
      </p:sp>
      <p:sp>
        <p:nvSpPr>
          <p:cNvPr id="25" name="Text 23"/>
          <p:cNvSpPr/>
          <p:nvPr/>
        </p:nvSpPr>
        <p:spPr>
          <a:xfrm>
            <a:off x="347472" y="2761488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3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Datos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47472" y="2980944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XAMPP MySQL :3306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892040" y="2706624"/>
            <a:ext cx="40233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150"/>
          </a:p>
        </p:txBody>
      </p:sp>
      <p:sp>
        <p:nvSpPr>
          <p:cNvPr id="28" name="Text 26"/>
          <p:cNvSpPr/>
          <p:nvPr/>
        </p:nvSpPr>
        <p:spPr>
          <a:xfrm>
            <a:off x="5010912" y="2761488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3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Datos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010912" y="2980944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Railway MySQL :23439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279392" y="2798064"/>
            <a:ext cx="594360" cy="347472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150"/>
          </a:p>
        </p:txBody>
      </p:sp>
      <p:sp>
        <p:nvSpPr>
          <p:cNvPr id="31" name="Text 29"/>
          <p:cNvSpPr/>
          <p:nvPr/>
        </p:nvSpPr>
        <p:spPr>
          <a:xfrm>
            <a:off x="4279392" y="2798064"/>
            <a:ext cx="594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3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≡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228600" y="3328416"/>
            <a:ext cx="4023360" cy="53035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150"/>
          </a:p>
        </p:txBody>
      </p:sp>
      <p:sp>
        <p:nvSpPr>
          <p:cNvPr id="33" name="Text 31"/>
          <p:cNvSpPr/>
          <p:nvPr/>
        </p:nvSpPr>
        <p:spPr>
          <a:xfrm>
            <a:off x="347472" y="3383280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3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Testing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347472" y="360273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Postman → localhost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892040" y="3328416"/>
            <a:ext cx="4023360" cy="53035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150"/>
          </a:p>
        </p:txBody>
      </p:sp>
      <p:sp>
        <p:nvSpPr>
          <p:cNvPr id="36" name="Text 34"/>
          <p:cNvSpPr/>
          <p:nvPr/>
        </p:nvSpPr>
        <p:spPr>
          <a:xfrm>
            <a:off x="5010912" y="3383280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3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Testing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010912" y="360273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Postman → URL Railway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279392" y="3419856"/>
            <a:ext cx="594360" cy="347472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150"/>
          </a:p>
        </p:txBody>
      </p:sp>
      <p:sp>
        <p:nvSpPr>
          <p:cNvPr id="39" name="Text 37"/>
          <p:cNvSpPr/>
          <p:nvPr/>
        </p:nvSpPr>
        <p:spPr>
          <a:xfrm>
            <a:off x="4279392" y="3419856"/>
            <a:ext cx="594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3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≡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228600" y="3950208"/>
            <a:ext cx="40233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150"/>
          </a:p>
        </p:txBody>
      </p:sp>
      <p:sp>
        <p:nvSpPr>
          <p:cNvPr id="41" name="Text 39"/>
          <p:cNvSpPr/>
          <p:nvPr/>
        </p:nvSpPr>
        <p:spPr>
          <a:xfrm>
            <a:off x="347472" y="4005072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3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Tests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347472" y="4224528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JUnit 5 + Mockito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892040" y="3950208"/>
            <a:ext cx="40233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150"/>
          </a:p>
        </p:txBody>
      </p:sp>
      <p:sp>
        <p:nvSpPr>
          <p:cNvPr id="44" name="Text 42"/>
          <p:cNvSpPr/>
          <p:nvPr/>
        </p:nvSpPr>
        <p:spPr>
          <a:xfrm>
            <a:off x="5010912" y="4005072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3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Tests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5010912" y="4224528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JUnit 5 + Mockito (CI)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4279392" y="4041648"/>
            <a:ext cx="594360" cy="347472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150"/>
          </a:p>
        </p:txBody>
      </p:sp>
      <p:sp>
        <p:nvSpPr>
          <p:cNvPr id="47" name="Text 45"/>
          <p:cNvSpPr/>
          <p:nvPr/>
        </p:nvSpPr>
        <p:spPr>
          <a:xfrm>
            <a:off x="4279392" y="4041648"/>
            <a:ext cx="594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3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≡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0" y="4736592"/>
            <a:ext cx="9144000" cy="402336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150"/>
          </a:p>
        </p:txBody>
      </p:sp>
      <p:sp>
        <p:nvSpPr>
          <p:cNvPr id="49" name="Text 47"/>
          <p:cNvSpPr/>
          <p:nvPr/>
        </p:nvSpPr>
        <p:spPr>
          <a:xfrm>
            <a:off x="182880" y="477316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E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JUnit 5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2011680" y="477316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E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Mockito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3840480" y="477316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E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Postman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5669280" y="477316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E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MySQL Workbench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7498080" y="477316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E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DevTools Chrome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3D7E"/>
          </a:solidFill>
          <a:ln w="12700">
            <a:solidFill>
              <a:srgbClr val="003D7E"/>
            </a:solidFill>
            <a:prstDash val="solid"/>
          </a:ln>
        </p:spPr>
        <p:txBody>
          <a:bodyPr/>
          <a:lstStyle/>
          <a:p>
            <a:endParaRPr lang="en-150" dirty="0"/>
          </a:p>
        </p:txBody>
      </p:sp>
      <p:sp>
        <p:nvSpPr>
          <p:cNvPr id="3" name="Text 1"/>
          <p:cNvSpPr/>
          <p:nvPr/>
        </p:nvSpPr>
        <p:spPr>
          <a:xfrm>
            <a:off x="274320" y="4572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EP2 — Copia de Seguridad y Config. del Servidor Cloud 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228600" y="960120"/>
            <a:ext cx="2926080" cy="594360"/>
          </a:xfrm>
          <a:prstGeom prst="rect">
            <a:avLst/>
          </a:prstGeom>
          <a:solidFill>
            <a:srgbClr val="DC2626"/>
          </a:solidFill>
          <a:ln w="12700">
            <a:solidFill>
              <a:srgbClr val="991B1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150"/>
          </a:p>
        </p:txBody>
      </p:sp>
      <p:sp>
        <p:nvSpPr>
          <p:cNvPr id="5" name="Text 3"/>
          <p:cNvSpPr/>
          <p:nvPr/>
        </p:nvSpPr>
        <p:spPr>
          <a:xfrm>
            <a:off x="228600" y="960120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RAILWAY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Producción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989320" y="960120"/>
            <a:ext cx="2926080" cy="594360"/>
          </a:xfrm>
          <a:prstGeom prst="rect">
            <a:avLst/>
          </a:prstGeom>
          <a:solidFill>
            <a:srgbClr val="1E293B"/>
          </a:solidFill>
          <a:ln w="12700">
            <a:solidFill>
              <a:srgbClr val="64748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150"/>
          </a:p>
        </p:txBody>
      </p:sp>
      <p:sp>
        <p:nvSpPr>
          <p:cNvPr id="7" name="Text 5"/>
          <p:cNvSpPr/>
          <p:nvPr/>
        </p:nvSpPr>
        <p:spPr>
          <a:xfrm>
            <a:off x="5989320" y="960120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XAMPP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Ambiente Pruebas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383280" y="102412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3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BACKUP →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383280" y="1444752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mysqldump / Workbench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28600" y="17373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3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Exportar desde Producción: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28600" y="2084832"/>
            <a:ext cx="256032" cy="256032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150"/>
          </a:p>
        </p:txBody>
      </p:sp>
      <p:sp>
        <p:nvSpPr>
          <p:cNvPr id="12" name="Text 10"/>
          <p:cNvSpPr/>
          <p:nvPr/>
        </p:nvSpPr>
        <p:spPr>
          <a:xfrm>
            <a:off x="228600" y="208483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66928" y="210312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Abrir MySQL Workbench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28600" y="2633472"/>
            <a:ext cx="256032" cy="256032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150"/>
          </a:p>
        </p:txBody>
      </p:sp>
      <p:sp>
        <p:nvSpPr>
          <p:cNvPr id="15" name="Text 13"/>
          <p:cNvSpPr/>
          <p:nvPr/>
        </p:nvSpPr>
        <p:spPr>
          <a:xfrm>
            <a:off x="228600" y="263347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66928" y="265176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Conectar: gondola.proxy.rlwy.net:23439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28600" y="3182112"/>
            <a:ext cx="256032" cy="256032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150"/>
          </a:p>
        </p:txBody>
      </p:sp>
      <p:sp>
        <p:nvSpPr>
          <p:cNvPr id="18" name="Text 16"/>
          <p:cNvSpPr/>
          <p:nvPr/>
        </p:nvSpPr>
        <p:spPr>
          <a:xfrm>
            <a:off x="228600" y="318211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66928" y="320040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Export → schema 'railway'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28600" y="3730752"/>
            <a:ext cx="256032" cy="256032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150"/>
          </a:p>
        </p:txBody>
      </p:sp>
      <p:sp>
        <p:nvSpPr>
          <p:cNvPr id="21" name="Text 19"/>
          <p:cNvSpPr/>
          <p:nvPr/>
        </p:nvSpPr>
        <p:spPr>
          <a:xfrm>
            <a:off x="228600" y="373075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66928" y="374904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Guardar como </a:t>
            </a:r>
            <a:r>
              <a:rPr lang="en-US" sz="11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cfd_backup.sql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413248" y="1685925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3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Importar en Local: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13248" y="2098929"/>
            <a:ext cx="256032" cy="2560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150"/>
          </a:p>
        </p:txBody>
      </p:sp>
      <p:sp>
        <p:nvSpPr>
          <p:cNvPr id="25" name="Text 23"/>
          <p:cNvSpPr/>
          <p:nvPr/>
        </p:nvSpPr>
        <p:spPr>
          <a:xfrm>
            <a:off x="5413248" y="210312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760720" y="2114550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Abrir Workbench → localhost:3306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413248" y="2628138"/>
            <a:ext cx="256032" cy="2560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150"/>
          </a:p>
        </p:txBody>
      </p:sp>
      <p:sp>
        <p:nvSpPr>
          <p:cNvPr id="28" name="Text 26"/>
          <p:cNvSpPr/>
          <p:nvPr/>
        </p:nvSpPr>
        <p:spPr>
          <a:xfrm>
            <a:off x="5413248" y="262813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760720" y="2626995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schema 'cfd_servicios'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13248" y="3187065"/>
            <a:ext cx="256032" cy="2560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150"/>
          </a:p>
        </p:txBody>
      </p:sp>
      <p:sp>
        <p:nvSpPr>
          <p:cNvPr id="31" name="Text 29"/>
          <p:cNvSpPr/>
          <p:nvPr/>
        </p:nvSpPr>
        <p:spPr>
          <a:xfrm>
            <a:off x="5413248" y="3187065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760720" y="3205353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Import → cfd_backup.sql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413248" y="3749040"/>
            <a:ext cx="256032" cy="2560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150"/>
          </a:p>
        </p:txBody>
      </p:sp>
      <p:sp>
        <p:nvSpPr>
          <p:cNvPr id="34" name="Text 32"/>
          <p:cNvSpPr/>
          <p:nvPr/>
        </p:nvSpPr>
        <p:spPr>
          <a:xfrm>
            <a:off x="5413248" y="374599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760720" y="3767328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Schema: cfd_servicios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228600" y="4224528"/>
            <a:ext cx="8686800" cy="731520"/>
          </a:xfrm>
          <a:prstGeom prst="rect">
            <a:avLst/>
          </a:prstGeom>
          <a:solidFill>
            <a:srgbClr val="EBF3FF"/>
          </a:solidFill>
          <a:ln w="12700">
            <a:solidFill>
              <a:srgbClr val="D6E4F7"/>
            </a:solidFill>
            <a:prstDash val="solid"/>
          </a:ln>
        </p:spPr>
        <p:txBody>
          <a:bodyPr/>
          <a:lstStyle/>
          <a:p>
            <a:endParaRPr lang="en-150"/>
          </a:p>
        </p:txBody>
      </p:sp>
      <p:sp>
        <p:nvSpPr>
          <p:cNvPr id="37" name="Text 35"/>
          <p:cNvSpPr/>
          <p:nvPr/>
        </p:nvSpPr>
        <p:spPr>
          <a:xfrm>
            <a:off x="365760" y="427024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3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Railway Auto-Configura: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365760" y="4572000"/>
            <a:ext cx="2011680" cy="2743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150"/>
          </a:p>
        </p:txBody>
      </p:sp>
      <p:sp>
        <p:nvSpPr>
          <p:cNvPr id="39" name="Text 37"/>
          <p:cNvSpPr/>
          <p:nvPr/>
        </p:nvSpPr>
        <p:spPr>
          <a:xfrm>
            <a:off x="365760" y="45720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17 Nixpacks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2514600" y="4572000"/>
            <a:ext cx="2011680" cy="2743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150"/>
          </a:p>
        </p:txBody>
      </p:sp>
      <p:sp>
        <p:nvSpPr>
          <p:cNvPr id="41" name="Text 39"/>
          <p:cNvSpPr/>
          <p:nvPr/>
        </p:nvSpPr>
        <p:spPr>
          <a:xfrm>
            <a:off x="2514600" y="45720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vars inyectadas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663440" y="4572000"/>
            <a:ext cx="2011680" cy="2743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150"/>
          </a:p>
        </p:txBody>
      </p:sp>
      <p:sp>
        <p:nvSpPr>
          <p:cNvPr id="43" name="Text 41"/>
          <p:cNvSpPr/>
          <p:nvPr/>
        </p:nvSpPr>
        <p:spPr>
          <a:xfrm>
            <a:off x="4663440" y="45720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Maven pom.xml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6812280" y="4572000"/>
            <a:ext cx="2011680" cy="2743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150"/>
          </a:p>
        </p:txBody>
      </p:sp>
      <p:sp>
        <p:nvSpPr>
          <p:cNvPr id="45" name="Text 43"/>
          <p:cNvSpPr/>
          <p:nvPr/>
        </p:nvSpPr>
        <p:spPr>
          <a:xfrm>
            <a:off x="6812280" y="45720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DDL auto=update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3D7E"/>
          </a:solidFill>
          <a:ln w="12700">
            <a:solidFill>
              <a:srgbClr val="003D7E"/>
            </a:solidFill>
            <a:prstDash val="solid"/>
          </a:ln>
        </p:spPr>
        <p:txBody>
          <a:bodyPr/>
          <a:lstStyle/>
          <a:p>
            <a:endParaRPr lang="en-150"/>
          </a:p>
        </p:txBody>
      </p:sp>
      <p:sp>
        <p:nvSpPr>
          <p:cNvPr id="3" name="Text 1"/>
          <p:cNvSpPr/>
          <p:nvPr/>
        </p:nvSpPr>
        <p:spPr>
          <a:xfrm>
            <a:off x="274320" y="4572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EP2 — Estado Funcional del Desarrollo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28600" y="960120"/>
            <a:ext cx="8686800" cy="329184"/>
          </a:xfrm>
          <a:prstGeom prst="rect">
            <a:avLst/>
          </a:prstGeom>
          <a:solidFill>
            <a:srgbClr val="1E2D4A"/>
          </a:solidFill>
          <a:ln w="12700">
            <a:solidFill>
              <a:srgbClr val="1E2D4A"/>
            </a:solidFill>
            <a:prstDash val="solid"/>
          </a:ln>
        </p:spPr>
        <p:txBody>
          <a:bodyPr/>
          <a:lstStyle/>
          <a:p>
            <a:endParaRPr lang="en-150"/>
          </a:p>
        </p:txBody>
      </p:sp>
      <p:sp>
        <p:nvSpPr>
          <p:cNvPr id="5" name="Shape 3"/>
          <p:cNvSpPr/>
          <p:nvPr/>
        </p:nvSpPr>
        <p:spPr>
          <a:xfrm>
            <a:off x="228600" y="960120"/>
            <a:ext cx="8686800" cy="32918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150"/>
          </a:p>
        </p:txBody>
      </p:sp>
      <p:sp>
        <p:nvSpPr>
          <p:cNvPr id="6" name="Text 4"/>
          <p:cNvSpPr/>
          <p:nvPr/>
        </p:nvSpPr>
        <p:spPr>
          <a:xfrm>
            <a:off x="228600" y="960120"/>
            <a:ext cx="8686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15 funcionalidades completadas — 100%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28600" y="1417320"/>
            <a:ext cx="1664208" cy="841248"/>
          </a:xfrm>
          <a:prstGeom prst="rect">
            <a:avLst/>
          </a:prstGeom>
          <a:solidFill>
            <a:srgbClr val="141F35"/>
          </a:solidFill>
          <a:ln w="12700">
            <a:solidFill>
              <a:srgbClr val="16A3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150"/>
          </a:p>
        </p:txBody>
      </p:sp>
      <p:sp>
        <p:nvSpPr>
          <p:cNvPr id="8" name="Shape 6"/>
          <p:cNvSpPr/>
          <p:nvPr/>
        </p:nvSpPr>
        <p:spPr>
          <a:xfrm>
            <a:off x="228600" y="1417320"/>
            <a:ext cx="1664208" cy="5486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150"/>
          </a:p>
        </p:txBody>
      </p:sp>
      <p:sp>
        <p:nvSpPr>
          <p:cNvPr id="9" name="Text 7"/>
          <p:cNvSpPr/>
          <p:nvPr/>
        </p:nvSpPr>
        <p:spPr>
          <a:xfrm>
            <a:off x="301752" y="1545336"/>
            <a:ext cx="320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49224" y="1581912"/>
            <a:ext cx="11704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BCrypt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965960" y="1417320"/>
            <a:ext cx="1664208" cy="841248"/>
          </a:xfrm>
          <a:prstGeom prst="rect">
            <a:avLst/>
          </a:prstGeom>
          <a:solidFill>
            <a:srgbClr val="141F35"/>
          </a:solidFill>
          <a:ln w="12700">
            <a:solidFill>
              <a:srgbClr val="16A3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150"/>
          </a:p>
        </p:txBody>
      </p:sp>
      <p:sp>
        <p:nvSpPr>
          <p:cNvPr id="12" name="Shape 10"/>
          <p:cNvSpPr/>
          <p:nvPr/>
        </p:nvSpPr>
        <p:spPr>
          <a:xfrm>
            <a:off x="1965960" y="1417320"/>
            <a:ext cx="1664208" cy="5486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150"/>
          </a:p>
        </p:txBody>
      </p:sp>
      <p:sp>
        <p:nvSpPr>
          <p:cNvPr id="13" name="Text 11"/>
          <p:cNvSpPr/>
          <p:nvPr/>
        </p:nvSpPr>
        <p:spPr>
          <a:xfrm>
            <a:off x="2039112" y="1545336"/>
            <a:ext cx="320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2386584" y="1581912"/>
            <a:ext cx="11704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JWT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703320" y="1417320"/>
            <a:ext cx="1664208" cy="841248"/>
          </a:xfrm>
          <a:prstGeom prst="rect">
            <a:avLst/>
          </a:prstGeom>
          <a:solidFill>
            <a:srgbClr val="141F35"/>
          </a:solidFill>
          <a:ln w="12700">
            <a:solidFill>
              <a:srgbClr val="0056B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150"/>
          </a:p>
        </p:txBody>
      </p:sp>
      <p:sp>
        <p:nvSpPr>
          <p:cNvPr id="16" name="Shape 14"/>
          <p:cNvSpPr/>
          <p:nvPr/>
        </p:nvSpPr>
        <p:spPr>
          <a:xfrm>
            <a:off x="3703320" y="1417320"/>
            <a:ext cx="1664208" cy="54864"/>
          </a:xfrm>
          <a:prstGeom prst="rect">
            <a:avLst/>
          </a:prstGeom>
          <a:solidFill>
            <a:srgbClr val="0056B3"/>
          </a:solidFill>
          <a:ln w="12700">
            <a:solidFill>
              <a:srgbClr val="0056B3"/>
            </a:solidFill>
            <a:prstDash val="solid"/>
          </a:ln>
        </p:spPr>
        <p:txBody>
          <a:bodyPr/>
          <a:lstStyle/>
          <a:p>
            <a:endParaRPr lang="en-150"/>
          </a:p>
        </p:txBody>
      </p:sp>
      <p:sp>
        <p:nvSpPr>
          <p:cNvPr id="17" name="Text 15"/>
          <p:cNvSpPr/>
          <p:nvPr/>
        </p:nvSpPr>
        <p:spPr>
          <a:xfrm>
            <a:off x="3776472" y="1545336"/>
            <a:ext cx="320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123944" y="1581912"/>
            <a:ext cx="11704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Catálogo servicios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40680" y="1417320"/>
            <a:ext cx="1664208" cy="841248"/>
          </a:xfrm>
          <a:prstGeom prst="rect">
            <a:avLst/>
          </a:prstGeom>
          <a:solidFill>
            <a:srgbClr val="141F35"/>
          </a:solidFill>
          <a:ln w="12700">
            <a:solidFill>
              <a:srgbClr val="0056B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150"/>
          </a:p>
        </p:txBody>
      </p:sp>
      <p:sp>
        <p:nvSpPr>
          <p:cNvPr id="20" name="Shape 18"/>
          <p:cNvSpPr/>
          <p:nvPr/>
        </p:nvSpPr>
        <p:spPr>
          <a:xfrm>
            <a:off x="5440680" y="1417320"/>
            <a:ext cx="1664208" cy="54864"/>
          </a:xfrm>
          <a:prstGeom prst="rect">
            <a:avLst/>
          </a:prstGeom>
          <a:solidFill>
            <a:srgbClr val="0056B3"/>
          </a:solidFill>
          <a:ln w="12700">
            <a:solidFill>
              <a:srgbClr val="0056B3"/>
            </a:solidFill>
            <a:prstDash val="solid"/>
          </a:ln>
        </p:spPr>
        <p:txBody>
          <a:bodyPr/>
          <a:lstStyle/>
          <a:p>
            <a:endParaRPr lang="en-150"/>
          </a:p>
        </p:txBody>
      </p:sp>
      <p:sp>
        <p:nvSpPr>
          <p:cNvPr id="21" name="Text 19"/>
          <p:cNvSpPr/>
          <p:nvPr/>
        </p:nvSpPr>
        <p:spPr>
          <a:xfrm>
            <a:off x="5513832" y="1545336"/>
            <a:ext cx="320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861304" y="1581912"/>
            <a:ext cx="11704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Bloques dinámicos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178040" y="1417320"/>
            <a:ext cx="1664208" cy="841248"/>
          </a:xfrm>
          <a:prstGeom prst="rect">
            <a:avLst/>
          </a:prstGeom>
          <a:solidFill>
            <a:srgbClr val="141F35"/>
          </a:solidFill>
          <a:ln w="12700">
            <a:solidFill>
              <a:srgbClr val="0056B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150"/>
          </a:p>
        </p:txBody>
      </p:sp>
      <p:sp>
        <p:nvSpPr>
          <p:cNvPr id="24" name="Shape 22"/>
          <p:cNvSpPr/>
          <p:nvPr/>
        </p:nvSpPr>
        <p:spPr>
          <a:xfrm>
            <a:off x="7178040" y="1417320"/>
            <a:ext cx="1664208" cy="54864"/>
          </a:xfrm>
          <a:prstGeom prst="rect">
            <a:avLst/>
          </a:prstGeom>
          <a:solidFill>
            <a:srgbClr val="0056B3"/>
          </a:solidFill>
          <a:ln w="12700">
            <a:solidFill>
              <a:srgbClr val="0056B3"/>
            </a:solidFill>
            <a:prstDash val="solid"/>
          </a:ln>
        </p:spPr>
        <p:txBody>
          <a:bodyPr/>
          <a:lstStyle/>
          <a:p>
            <a:endParaRPr lang="en-150"/>
          </a:p>
        </p:txBody>
      </p:sp>
      <p:sp>
        <p:nvSpPr>
          <p:cNvPr id="25" name="Text 23"/>
          <p:cNvSpPr/>
          <p:nvPr/>
        </p:nvSpPr>
        <p:spPr>
          <a:xfrm>
            <a:off x="7251192" y="1545336"/>
            <a:ext cx="320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7598664" y="1581912"/>
            <a:ext cx="11704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 12 slots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28600" y="2313432"/>
            <a:ext cx="1664208" cy="841248"/>
          </a:xfrm>
          <a:prstGeom prst="rect">
            <a:avLst/>
          </a:prstGeom>
          <a:solidFill>
            <a:srgbClr val="141F35"/>
          </a:solidFill>
          <a:ln w="12700">
            <a:solidFill>
              <a:srgbClr val="0056B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150"/>
          </a:p>
        </p:txBody>
      </p:sp>
      <p:sp>
        <p:nvSpPr>
          <p:cNvPr id="28" name="Shape 26"/>
          <p:cNvSpPr/>
          <p:nvPr/>
        </p:nvSpPr>
        <p:spPr>
          <a:xfrm>
            <a:off x="228600" y="2313432"/>
            <a:ext cx="1664208" cy="54864"/>
          </a:xfrm>
          <a:prstGeom prst="rect">
            <a:avLst/>
          </a:prstGeom>
          <a:solidFill>
            <a:srgbClr val="0056B3"/>
          </a:solidFill>
          <a:ln w="12700">
            <a:solidFill>
              <a:srgbClr val="0056B3"/>
            </a:solidFill>
            <a:prstDash val="solid"/>
          </a:ln>
        </p:spPr>
        <p:txBody>
          <a:bodyPr/>
          <a:lstStyle/>
          <a:p>
            <a:endParaRPr lang="en-150"/>
          </a:p>
        </p:txBody>
      </p:sp>
      <p:sp>
        <p:nvSpPr>
          <p:cNvPr id="29" name="Text 27"/>
          <p:cNvSpPr/>
          <p:nvPr/>
        </p:nvSpPr>
        <p:spPr>
          <a:xfrm>
            <a:off x="301752" y="2441448"/>
            <a:ext cx="320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649224" y="2478024"/>
            <a:ext cx="11704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Modal confirmación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965960" y="2313432"/>
            <a:ext cx="1664208" cy="841248"/>
          </a:xfrm>
          <a:prstGeom prst="rect">
            <a:avLst/>
          </a:prstGeom>
          <a:solidFill>
            <a:srgbClr val="141F35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150"/>
          </a:p>
        </p:txBody>
      </p:sp>
      <p:sp>
        <p:nvSpPr>
          <p:cNvPr id="32" name="Shape 30"/>
          <p:cNvSpPr/>
          <p:nvPr/>
        </p:nvSpPr>
        <p:spPr>
          <a:xfrm>
            <a:off x="1965960" y="2313432"/>
            <a:ext cx="1664208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150"/>
          </a:p>
        </p:txBody>
      </p:sp>
      <p:sp>
        <p:nvSpPr>
          <p:cNvPr id="33" name="Text 31"/>
          <p:cNvSpPr/>
          <p:nvPr/>
        </p:nvSpPr>
        <p:spPr>
          <a:xfrm>
            <a:off x="2039112" y="2441448"/>
            <a:ext cx="320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2386584" y="2478024"/>
            <a:ext cx="11704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público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3703320" y="2313432"/>
            <a:ext cx="1664208" cy="841248"/>
          </a:xfrm>
          <a:prstGeom prst="rect">
            <a:avLst/>
          </a:prstGeom>
          <a:solidFill>
            <a:srgbClr val="141F35"/>
          </a:solidFill>
          <a:ln w="12700">
            <a:solidFill>
              <a:srgbClr val="6B21A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150"/>
          </a:p>
        </p:txBody>
      </p:sp>
      <p:sp>
        <p:nvSpPr>
          <p:cNvPr id="36" name="Shape 34"/>
          <p:cNvSpPr/>
          <p:nvPr/>
        </p:nvSpPr>
        <p:spPr>
          <a:xfrm>
            <a:off x="3703320" y="2313432"/>
            <a:ext cx="1664208" cy="54864"/>
          </a:xfrm>
          <a:prstGeom prst="rect">
            <a:avLst/>
          </a:prstGeom>
          <a:solidFill>
            <a:srgbClr val="6B21A8"/>
          </a:solidFill>
          <a:ln w="12700">
            <a:solidFill>
              <a:srgbClr val="6B21A8"/>
            </a:solidFill>
            <a:prstDash val="solid"/>
          </a:ln>
        </p:spPr>
        <p:txBody>
          <a:bodyPr/>
          <a:lstStyle/>
          <a:p>
            <a:endParaRPr lang="en-150"/>
          </a:p>
        </p:txBody>
      </p:sp>
      <p:sp>
        <p:nvSpPr>
          <p:cNvPr id="37" name="Text 35"/>
          <p:cNvSpPr/>
          <p:nvPr/>
        </p:nvSpPr>
        <p:spPr>
          <a:xfrm>
            <a:off x="3776472" y="2441448"/>
            <a:ext cx="320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4123944" y="2478024"/>
            <a:ext cx="11704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CORS configurado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5440680" y="2313432"/>
            <a:ext cx="1664208" cy="841248"/>
          </a:xfrm>
          <a:prstGeom prst="rect">
            <a:avLst/>
          </a:prstGeom>
          <a:solidFill>
            <a:srgbClr val="141F35"/>
          </a:solidFill>
          <a:ln w="12700">
            <a:solidFill>
              <a:srgbClr val="EA580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150"/>
          </a:p>
        </p:txBody>
      </p:sp>
      <p:sp>
        <p:nvSpPr>
          <p:cNvPr id="40" name="Shape 38"/>
          <p:cNvSpPr/>
          <p:nvPr/>
        </p:nvSpPr>
        <p:spPr>
          <a:xfrm>
            <a:off x="5440680" y="2313432"/>
            <a:ext cx="1664208" cy="54864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n-150"/>
          </a:p>
        </p:txBody>
      </p:sp>
      <p:sp>
        <p:nvSpPr>
          <p:cNvPr id="41" name="Text 39"/>
          <p:cNvSpPr/>
          <p:nvPr/>
        </p:nvSpPr>
        <p:spPr>
          <a:xfrm>
            <a:off x="5513832" y="2441448"/>
            <a:ext cx="320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5861304" y="2478024"/>
            <a:ext cx="11704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reservas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7178040" y="2313432"/>
            <a:ext cx="1664208" cy="841248"/>
          </a:xfrm>
          <a:prstGeom prst="rect">
            <a:avLst/>
          </a:prstGeom>
          <a:solidFill>
            <a:srgbClr val="141F35"/>
          </a:solidFill>
          <a:ln w="12700">
            <a:solidFill>
              <a:srgbClr val="EA580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150"/>
          </a:p>
        </p:txBody>
      </p:sp>
      <p:sp>
        <p:nvSpPr>
          <p:cNvPr id="44" name="Shape 42"/>
          <p:cNvSpPr/>
          <p:nvPr/>
        </p:nvSpPr>
        <p:spPr>
          <a:xfrm>
            <a:off x="7178040" y="2313432"/>
            <a:ext cx="1664208" cy="54864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n-150"/>
          </a:p>
        </p:txBody>
      </p:sp>
      <p:sp>
        <p:nvSpPr>
          <p:cNvPr id="45" name="Text 43"/>
          <p:cNvSpPr/>
          <p:nvPr/>
        </p:nvSpPr>
        <p:spPr>
          <a:xfrm>
            <a:off x="7251192" y="2441448"/>
            <a:ext cx="320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46" name="Text 44"/>
          <p:cNvSpPr/>
          <p:nvPr/>
        </p:nvSpPr>
        <p:spPr>
          <a:xfrm>
            <a:off x="7598664" y="2478024"/>
            <a:ext cx="11704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Calendario ops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228600" y="3209544"/>
            <a:ext cx="1664208" cy="841248"/>
          </a:xfrm>
          <a:prstGeom prst="rect">
            <a:avLst/>
          </a:prstGeom>
          <a:solidFill>
            <a:srgbClr val="141F35"/>
          </a:solidFill>
          <a:ln w="12700">
            <a:solidFill>
              <a:srgbClr val="EA580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150"/>
          </a:p>
        </p:txBody>
      </p:sp>
      <p:sp>
        <p:nvSpPr>
          <p:cNvPr id="48" name="Shape 46"/>
          <p:cNvSpPr/>
          <p:nvPr/>
        </p:nvSpPr>
        <p:spPr>
          <a:xfrm>
            <a:off x="228600" y="3209544"/>
            <a:ext cx="1664208" cy="54864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n-150"/>
          </a:p>
        </p:txBody>
      </p:sp>
      <p:sp>
        <p:nvSpPr>
          <p:cNvPr id="49" name="Text 47"/>
          <p:cNvSpPr/>
          <p:nvPr/>
        </p:nvSpPr>
        <p:spPr>
          <a:xfrm>
            <a:off x="301752" y="3337560"/>
            <a:ext cx="320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50" name="Text 48"/>
          <p:cNvSpPr/>
          <p:nvPr/>
        </p:nvSpPr>
        <p:spPr>
          <a:xfrm>
            <a:off x="649224" y="3374136"/>
            <a:ext cx="11704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Dir. clientes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1965960" y="3209544"/>
            <a:ext cx="1664208" cy="841248"/>
          </a:xfrm>
          <a:prstGeom prst="rect">
            <a:avLst/>
          </a:prstGeom>
          <a:solidFill>
            <a:srgbClr val="141F35"/>
          </a:solidFill>
          <a:ln w="12700">
            <a:solidFill>
              <a:srgbClr val="0056B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150"/>
          </a:p>
        </p:txBody>
      </p:sp>
      <p:sp>
        <p:nvSpPr>
          <p:cNvPr id="52" name="Shape 50"/>
          <p:cNvSpPr/>
          <p:nvPr/>
        </p:nvSpPr>
        <p:spPr>
          <a:xfrm>
            <a:off x="1965960" y="3209544"/>
            <a:ext cx="1664208" cy="54864"/>
          </a:xfrm>
          <a:prstGeom prst="rect">
            <a:avLst/>
          </a:prstGeom>
          <a:solidFill>
            <a:srgbClr val="0056B3"/>
          </a:solidFill>
          <a:ln w="12700">
            <a:solidFill>
              <a:srgbClr val="0056B3"/>
            </a:solidFill>
            <a:prstDash val="solid"/>
          </a:ln>
        </p:spPr>
        <p:txBody>
          <a:bodyPr/>
          <a:lstStyle/>
          <a:p>
            <a:endParaRPr lang="en-150"/>
          </a:p>
        </p:txBody>
      </p:sp>
      <p:sp>
        <p:nvSpPr>
          <p:cNvPr id="53" name="Text 51"/>
          <p:cNvSpPr/>
          <p:nvPr/>
        </p:nvSpPr>
        <p:spPr>
          <a:xfrm>
            <a:off x="2039112" y="3337560"/>
            <a:ext cx="320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54" name="Text 52"/>
          <p:cNvSpPr/>
          <p:nvPr/>
        </p:nvSpPr>
        <p:spPr>
          <a:xfrm>
            <a:off x="2386584" y="3374136"/>
            <a:ext cx="11704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reserva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3703320" y="3209544"/>
            <a:ext cx="1664208" cy="841248"/>
          </a:xfrm>
          <a:prstGeom prst="rect">
            <a:avLst/>
          </a:prstGeom>
          <a:solidFill>
            <a:srgbClr val="141F35"/>
          </a:solidFill>
          <a:ln w="12700">
            <a:solidFill>
              <a:srgbClr val="0056B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150"/>
          </a:p>
        </p:txBody>
      </p:sp>
      <p:sp>
        <p:nvSpPr>
          <p:cNvPr id="56" name="Shape 54"/>
          <p:cNvSpPr/>
          <p:nvPr/>
        </p:nvSpPr>
        <p:spPr>
          <a:xfrm>
            <a:off x="3703320" y="3209544"/>
            <a:ext cx="1664208" cy="54864"/>
          </a:xfrm>
          <a:prstGeom prst="rect">
            <a:avLst/>
          </a:prstGeom>
          <a:solidFill>
            <a:srgbClr val="0056B3"/>
          </a:solidFill>
          <a:ln w="12700">
            <a:solidFill>
              <a:srgbClr val="0056B3"/>
            </a:solidFill>
            <a:prstDash val="solid"/>
          </a:ln>
        </p:spPr>
        <p:txBody>
          <a:bodyPr/>
          <a:lstStyle/>
          <a:p>
            <a:endParaRPr lang="en-150"/>
          </a:p>
        </p:txBody>
      </p:sp>
      <p:sp>
        <p:nvSpPr>
          <p:cNvPr id="57" name="Text 55"/>
          <p:cNvSpPr/>
          <p:nvPr/>
        </p:nvSpPr>
        <p:spPr>
          <a:xfrm>
            <a:off x="3776472" y="3337560"/>
            <a:ext cx="320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58" name="Text 56"/>
          <p:cNvSpPr/>
          <p:nvPr/>
        </p:nvSpPr>
        <p:spPr>
          <a:xfrm>
            <a:off x="4123944" y="3374136"/>
            <a:ext cx="11704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Cancelar + cupos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5440680" y="3209544"/>
            <a:ext cx="1664208" cy="841248"/>
          </a:xfrm>
          <a:prstGeom prst="rect">
            <a:avLst/>
          </a:prstGeom>
          <a:solidFill>
            <a:srgbClr val="141F35"/>
          </a:solidFill>
          <a:ln w="12700">
            <a:solidFill>
              <a:srgbClr val="0056B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150"/>
          </a:p>
        </p:txBody>
      </p:sp>
      <p:sp>
        <p:nvSpPr>
          <p:cNvPr id="60" name="Shape 58"/>
          <p:cNvSpPr/>
          <p:nvPr/>
        </p:nvSpPr>
        <p:spPr>
          <a:xfrm>
            <a:off x="5440680" y="3209544"/>
            <a:ext cx="1664208" cy="54864"/>
          </a:xfrm>
          <a:prstGeom prst="rect">
            <a:avLst/>
          </a:prstGeom>
          <a:solidFill>
            <a:srgbClr val="0056B3"/>
          </a:solidFill>
          <a:ln w="12700">
            <a:solidFill>
              <a:srgbClr val="0056B3"/>
            </a:solidFill>
            <a:prstDash val="solid"/>
          </a:ln>
        </p:spPr>
        <p:txBody>
          <a:bodyPr/>
          <a:lstStyle/>
          <a:p>
            <a:endParaRPr lang="en-150"/>
          </a:p>
        </p:txBody>
      </p:sp>
      <p:sp>
        <p:nvSpPr>
          <p:cNvPr id="61" name="Text 59"/>
          <p:cNvSpPr/>
          <p:nvPr/>
        </p:nvSpPr>
        <p:spPr>
          <a:xfrm>
            <a:off x="5513832" y="3337560"/>
            <a:ext cx="320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62" name="Text 60"/>
          <p:cNvSpPr/>
          <p:nvPr/>
        </p:nvSpPr>
        <p:spPr>
          <a:xfrm>
            <a:off x="5861304" y="3374136"/>
            <a:ext cx="11704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Historial usuario</a:t>
            </a:r>
            <a:endParaRPr lang="en-US" sz="1100" dirty="0"/>
          </a:p>
        </p:txBody>
      </p:sp>
      <p:sp>
        <p:nvSpPr>
          <p:cNvPr id="63" name="Shape 61"/>
          <p:cNvSpPr/>
          <p:nvPr/>
        </p:nvSpPr>
        <p:spPr>
          <a:xfrm>
            <a:off x="7178040" y="3209544"/>
            <a:ext cx="1664208" cy="841248"/>
          </a:xfrm>
          <a:prstGeom prst="rect">
            <a:avLst/>
          </a:prstGeom>
          <a:solidFill>
            <a:srgbClr val="141F35"/>
          </a:solidFill>
          <a:ln w="12700">
            <a:solidFill>
              <a:srgbClr val="6B21A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150"/>
          </a:p>
        </p:txBody>
      </p:sp>
      <p:sp>
        <p:nvSpPr>
          <p:cNvPr id="64" name="Shape 62"/>
          <p:cNvSpPr/>
          <p:nvPr/>
        </p:nvSpPr>
        <p:spPr>
          <a:xfrm>
            <a:off x="7178040" y="3209544"/>
            <a:ext cx="1664208" cy="54864"/>
          </a:xfrm>
          <a:prstGeom prst="rect">
            <a:avLst/>
          </a:prstGeom>
          <a:solidFill>
            <a:srgbClr val="6B21A8"/>
          </a:solidFill>
          <a:ln w="12700">
            <a:solidFill>
              <a:srgbClr val="6B21A8"/>
            </a:solidFill>
            <a:prstDash val="solid"/>
          </a:ln>
        </p:spPr>
        <p:txBody>
          <a:bodyPr/>
          <a:lstStyle/>
          <a:p>
            <a:endParaRPr lang="en-150"/>
          </a:p>
        </p:txBody>
      </p:sp>
      <p:sp>
        <p:nvSpPr>
          <p:cNvPr id="65" name="Text 63"/>
          <p:cNvSpPr/>
          <p:nvPr/>
        </p:nvSpPr>
        <p:spPr>
          <a:xfrm>
            <a:off x="7251192" y="3337560"/>
            <a:ext cx="320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66" name="Text 64"/>
          <p:cNvSpPr/>
          <p:nvPr/>
        </p:nvSpPr>
        <p:spPr>
          <a:xfrm>
            <a:off x="7598664" y="3374136"/>
            <a:ext cx="11704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endpoints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5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3D7E"/>
          </a:solidFill>
          <a:ln w="12700">
            <a:solidFill>
              <a:srgbClr val="003D7E"/>
            </a:solidFill>
            <a:prstDash val="solid"/>
          </a:ln>
        </p:spPr>
        <p:txBody>
          <a:bodyPr/>
          <a:lstStyle/>
          <a:p>
            <a:endParaRPr lang="en-150"/>
          </a:p>
        </p:txBody>
      </p:sp>
      <p:sp>
        <p:nvSpPr>
          <p:cNvPr id="3" name="Text 1"/>
          <p:cNvSpPr/>
          <p:nvPr/>
        </p:nvSpPr>
        <p:spPr>
          <a:xfrm>
            <a:off x="274320" y="4572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Pantallas Implementadas — Sistema en Producción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28600" y="960120"/>
            <a:ext cx="2743200" cy="1874520"/>
          </a:xfrm>
          <a:prstGeom prst="rect">
            <a:avLst/>
          </a:prstGeom>
          <a:solidFill>
            <a:srgbClr val="0D1628"/>
          </a:solidFill>
          <a:ln w="12700">
            <a:solidFill>
              <a:srgbClr val="0056B3"/>
            </a:solidFill>
            <a:prstDash val="solid"/>
          </a:ln>
          <a:effectLst>
            <a:outerShdw blurRad="177800" dist="635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150"/>
          </a:p>
        </p:txBody>
      </p:sp>
      <p:sp>
        <p:nvSpPr>
          <p:cNvPr id="5" name="Shape 3"/>
          <p:cNvSpPr/>
          <p:nvPr/>
        </p:nvSpPr>
        <p:spPr>
          <a:xfrm>
            <a:off x="228600" y="960120"/>
            <a:ext cx="2743200" cy="292608"/>
          </a:xfrm>
          <a:prstGeom prst="rect">
            <a:avLst/>
          </a:prstGeom>
          <a:solidFill>
            <a:srgbClr val="0056B3"/>
          </a:solidFill>
          <a:ln w="12700">
            <a:solidFill>
              <a:srgbClr val="0056B3"/>
            </a:solidFill>
            <a:prstDash val="solid"/>
          </a:ln>
        </p:spPr>
        <p:txBody>
          <a:bodyPr/>
          <a:lstStyle/>
          <a:p>
            <a:endParaRPr lang="en-150"/>
          </a:p>
        </p:txBody>
      </p:sp>
      <p:sp>
        <p:nvSpPr>
          <p:cNvPr id="6" name="Text 4"/>
          <p:cNvSpPr/>
          <p:nvPr/>
        </p:nvSpPr>
        <p:spPr>
          <a:xfrm>
            <a:off x="320040" y="996696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● ●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68680" y="996696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28600" y="137160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5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⌂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320040" y="2148840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Banner · CTA · Íconos valor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154680" y="960120"/>
            <a:ext cx="2743200" cy="1874520"/>
          </a:xfrm>
          <a:prstGeom prst="rect">
            <a:avLst/>
          </a:prstGeom>
          <a:solidFill>
            <a:srgbClr val="0D1628"/>
          </a:solidFill>
          <a:ln w="12700">
            <a:solidFill>
              <a:srgbClr val="0D9488"/>
            </a:solidFill>
            <a:prstDash val="solid"/>
          </a:ln>
          <a:effectLst>
            <a:outerShdw blurRad="177800" dist="635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150"/>
          </a:p>
        </p:txBody>
      </p:sp>
      <p:sp>
        <p:nvSpPr>
          <p:cNvPr id="11" name="Shape 9"/>
          <p:cNvSpPr/>
          <p:nvPr/>
        </p:nvSpPr>
        <p:spPr>
          <a:xfrm>
            <a:off x="3154680" y="960120"/>
            <a:ext cx="2743200" cy="2926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150"/>
          </a:p>
        </p:txBody>
      </p:sp>
      <p:sp>
        <p:nvSpPr>
          <p:cNvPr id="12" name="Text 10"/>
          <p:cNvSpPr/>
          <p:nvPr/>
        </p:nvSpPr>
        <p:spPr>
          <a:xfrm>
            <a:off x="3246120" y="996696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● ●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794760" y="996696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154680" y="137160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3246120" y="2148840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cards · Detalle expandible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080760" y="960120"/>
            <a:ext cx="2743200" cy="1874520"/>
          </a:xfrm>
          <a:prstGeom prst="rect">
            <a:avLst/>
          </a:prstGeom>
          <a:solidFill>
            <a:srgbClr val="0D1628"/>
          </a:solidFill>
          <a:ln w="12700">
            <a:solidFill>
              <a:srgbClr val="EA580C"/>
            </a:solidFill>
            <a:prstDash val="solid"/>
          </a:ln>
          <a:effectLst>
            <a:outerShdw blurRad="177800" dist="635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150"/>
          </a:p>
        </p:txBody>
      </p:sp>
      <p:sp>
        <p:nvSpPr>
          <p:cNvPr id="17" name="Shape 15"/>
          <p:cNvSpPr/>
          <p:nvPr/>
        </p:nvSpPr>
        <p:spPr>
          <a:xfrm>
            <a:off x="6080760" y="960120"/>
            <a:ext cx="2743200" cy="292608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n-150"/>
          </a:p>
        </p:txBody>
      </p:sp>
      <p:sp>
        <p:nvSpPr>
          <p:cNvPr id="18" name="Text 16"/>
          <p:cNvSpPr/>
          <p:nvPr/>
        </p:nvSpPr>
        <p:spPr>
          <a:xfrm>
            <a:off x="6172200" y="996696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● ●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6720840" y="996696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080760" y="137160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</a:t>
            </a:r>
            <a:endParaRPr lang="en-US" sz="3600" dirty="0"/>
          </a:p>
        </p:txBody>
      </p:sp>
      <p:sp>
        <p:nvSpPr>
          <p:cNvPr id="21" name="Text 19"/>
          <p:cNvSpPr/>
          <p:nvPr/>
        </p:nvSpPr>
        <p:spPr>
          <a:xfrm>
            <a:off x="6172200" y="2148840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Selector · Calendario · 12 slots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28600" y="3017520"/>
            <a:ext cx="2743200" cy="1874520"/>
          </a:xfrm>
          <a:prstGeom prst="rect">
            <a:avLst/>
          </a:prstGeom>
          <a:solidFill>
            <a:srgbClr val="0D1628"/>
          </a:solidFill>
          <a:ln w="12700">
            <a:solidFill>
              <a:srgbClr val="6B21A8"/>
            </a:solidFill>
            <a:prstDash val="solid"/>
          </a:ln>
          <a:effectLst>
            <a:outerShdw blurRad="177800" dist="635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150"/>
          </a:p>
        </p:txBody>
      </p:sp>
      <p:sp>
        <p:nvSpPr>
          <p:cNvPr id="23" name="Shape 21"/>
          <p:cNvSpPr/>
          <p:nvPr/>
        </p:nvSpPr>
        <p:spPr>
          <a:xfrm>
            <a:off x="228600" y="3017520"/>
            <a:ext cx="2743200" cy="292608"/>
          </a:xfrm>
          <a:prstGeom prst="rect">
            <a:avLst/>
          </a:prstGeom>
          <a:solidFill>
            <a:srgbClr val="6B21A8"/>
          </a:solidFill>
          <a:ln w="12700">
            <a:solidFill>
              <a:srgbClr val="6B21A8"/>
            </a:solidFill>
            <a:prstDash val="solid"/>
          </a:ln>
        </p:spPr>
        <p:txBody>
          <a:bodyPr/>
          <a:lstStyle/>
          <a:p>
            <a:endParaRPr lang="en-150"/>
          </a:p>
        </p:txBody>
      </p:sp>
      <p:sp>
        <p:nvSpPr>
          <p:cNvPr id="24" name="Text 22"/>
          <p:cNvSpPr/>
          <p:nvPr/>
        </p:nvSpPr>
        <p:spPr>
          <a:xfrm>
            <a:off x="320040" y="3054096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● ●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868680" y="3054096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28600" y="342900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6B2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</a:t>
            </a:r>
            <a:endParaRPr lang="en-US" sz="3600" dirty="0"/>
          </a:p>
        </p:txBody>
      </p:sp>
      <p:sp>
        <p:nvSpPr>
          <p:cNvPr id="27" name="Text 25"/>
          <p:cNvSpPr/>
          <p:nvPr/>
        </p:nvSpPr>
        <p:spPr>
          <a:xfrm>
            <a:off x="320040" y="4206240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 · JWT auto · Rol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154680" y="3017520"/>
            <a:ext cx="2743200" cy="1874520"/>
          </a:xfrm>
          <a:prstGeom prst="rect">
            <a:avLst/>
          </a:prstGeom>
          <a:solidFill>
            <a:srgbClr val="0D1628"/>
          </a:solidFill>
          <a:ln w="12700">
            <a:solidFill>
              <a:srgbClr val="16A34A"/>
            </a:solidFill>
            <a:prstDash val="solid"/>
          </a:ln>
          <a:effectLst>
            <a:outerShdw blurRad="177800" dist="635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150"/>
          </a:p>
        </p:txBody>
      </p:sp>
      <p:sp>
        <p:nvSpPr>
          <p:cNvPr id="29" name="Shape 27"/>
          <p:cNvSpPr/>
          <p:nvPr/>
        </p:nvSpPr>
        <p:spPr>
          <a:xfrm>
            <a:off x="3154680" y="3017520"/>
            <a:ext cx="2743200" cy="29260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150"/>
          </a:p>
        </p:txBody>
      </p:sp>
      <p:sp>
        <p:nvSpPr>
          <p:cNvPr id="30" name="Text 28"/>
          <p:cNvSpPr/>
          <p:nvPr/>
        </p:nvSpPr>
        <p:spPr>
          <a:xfrm>
            <a:off x="3246120" y="3054096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● ●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3794760" y="3054096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154680" y="342900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</a:t>
            </a:r>
            <a:endParaRPr lang="en-US" sz="3600" dirty="0"/>
          </a:p>
        </p:txBody>
      </p:sp>
      <p:sp>
        <p:nvSpPr>
          <p:cNvPr id="33" name="Text 31"/>
          <p:cNvSpPr/>
          <p:nvPr/>
        </p:nvSpPr>
        <p:spPr>
          <a:xfrm>
            <a:off x="3246120" y="4206240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 · Email · Tel · Dir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080760" y="3017520"/>
            <a:ext cx="2743200" cy="1874520"/>
          </a:xfrm>
          <a:prstGeom prst="rect">
            <a:avLst/>
          </a:prstGeom>
          <a:solidFill>
            <a:srgbClr val="0D1628"/>
          </a:solidFill>
          <a:ln w="12700">
            <a:solidFill>
              <a:srgbClr val="003D7E"/>
            </a:solidFill>
            <a:prstDash val="solid"/>
          </a:ln>
          <a:effectLst>
            <a:outerShdw blurRad="177800" dist="635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150"/>
          </a:p>
        </p:txBody>
      </p:sp>
      <p:sp>
        <p:nvSpPr>
          <p:cNvPr id="35" name="Shape 33"/>
          <p:cNvSpPr/>
          <p:nvPr/>
        </p:nvSpPr>
        <p:spPr>
          <a:xfrm>
            <a:off x="6080760" y="3017520"/>
            <a:ext cx="2743200" cy="292608"/>
          </a:xfrm>
          <a:prstGeom prst="rect">
            <a:avLst/>
          </a:prstGeom>
          <a:solidFill>
            <a:srgbClr val="003D7E"/>
          </a:solidFill>
          <a:ln w="12700">
            <a:solidFill>
              <a:srgbClr val="003D7E"/>
            </a:solidFill>
            <a:prstDash val="solid"/>
          </a:ln>
        </p:spPr>
        <p:txBody>
          <a:bodyPr/>
          <a:lstStyle/>
          <a:p>
            <a:endParaRPr lang="en-150"/>
          </a:p>
        </p:txBody>
      </p:sp>
      <p:sp>
        <p:nvSpPr>
          <p:cNvPr id="36" name="Text 34"/>
          <p:cNvSpPr/>
          <p:nvPr/>
        </p:nvSpPr>
        <p:spPr>
          <a:xfrm>
            <a:off x="6172200" y="3054096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● ●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6720840" y="3054096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080760" y="342900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3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</a:t>
            </a:r>
            <a:endParaRPr lang="en-US" sz="3600" dirty="0"/>
          </a:p>
        </p:txBody>
      </p:sp>
      <p:sp>
        <p:nvSpPr>
          <p:cNvPr id="39" name="Text 37"/>
          <p:cNvSpPr/>
          <p:nvPr/>
        </p:nvSpPr>
        <p:spPr>
          <a:xfrm>
            <a:off x="6172200" y="4206240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 · Calendario · Clientes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7909560" y="91440"/>
            <a:ext cx="137160" cy="13716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150"/>
          </a:p>
        </p:txBody>
      </p:sp>
      <p:sp>
        <p:nvSpPr>
          <p:cNvPr id="41" name="Text 39"/>
          <p:cNvSpPr/>
          <p:nvPr/>
        </p:nvSpPr>
        <p:spPr>
          <a:xfrm>
            <a:off x="8065008" y="73152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en Railway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5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3D7E"/>
          </a:solidFill>
          <a:ln w="12700">
            <a:solidFill>
              <a:srgbClr val="003D7E"/>
            </a:solidFill>
            <a:prstDash val="solid"/>
          </a:ln>
        </p:spPr>
        <p:txBody>
          <a:bodyPr/>
          <a:lstStyle/>
          <a:p>
            <a:endParaRPr lang="en-150"/>
          </a:p>
        </p:txBody>
      </p:sp>
      <p:sp>
        <p:nvSpPr>
          <p:cNvPr id="3" name="Text 1"/>
          <p:cNvSpPr/>
          <p:nvPr/>
        </p:nvSpPr>
        <p:spPr>
          <a:xfrm>
            <a:off x="274320" y="4572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Conclusiones del Proyecto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28600" y="1024128"/>
            <a:ext cx="8686800" cy="640080"/>
          </a:xfrm>
          <a:prstGeom prst="rect">
            <a:avLst/>
          </a:prstGeom>
          <a:solidFill>
            <a:srgbClr val="0D1B35"/>
          </a:solidFill>
          <a:ln w="12700">
            <a:solidFill>
              <a:srgbClr val="16A3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150"/>
          </a:p>
        </p:txBody>
      </p:sp>
      <p:sp>
        <p:nvSpPr>
          <p:cNvPr id="5" name="Shape 3"/>
          <p:cNvSpPr/>
          <p:nvPr/>
        </p:nvSpPr>
        <p:spPr>
          <a:xfrm>
            <a:off x="228600" y="1024128"/>
            <a:ext cx="91440" cy="64008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150"/>
          </a:p>
        </p:txBody>
      </p:sp>
      <p:sp>
        <p:nvSpPr>
          <p:cNvPr id="6" name="Text 4"/>
          <p:cNvSpPr/>
          <p:nvPr/>
        </p:nvSpPr>
        <p:spPr>
          <a:xfrm>
            <a:off x="384048" y="1024128"/>
            <a:ext cx="365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04672" y="107899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E2E funcional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04672" y="1335024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→ Login → Agendar → Confirmar. Flujo completo operativo.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28600" y="1773936"/>
            <a:ext cx="8686800" cy="640080"/>
          </a:xfrm>
          <a:prstGeom prst="rect">
            <a:avLst/>
          </a:prstGeom>
          <a:solidFill>
            <a:srgbClr val="0D1B35"/>
          </a:solidFill>
          <a:ln w="12700">
            <a:solidFill>
              <a:srgbClr val="16A3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150"/>
          </a:p>
        </p:txBody>
      </p:sp>
      <p:sp>
        <p:nvSpPr>
          <p:cNvPr id="10" name="Shape 8"/>
          <p:cNvSpPr/>
          <p:nvPr/>
        </p:nvSpPr>
        <p:spPr>
          <a:xfrm>
            <a:off x="228600" y="1773936"/>
            <a:ext cx="91440" cy="64008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150"/>
          </a:p>
        </p:txBody>
      </p:sp>
      <p:sp>
        <p:nvSpPr>
          <p:cNvPr id="11" name="Text 9"/>
          <p:cNvSpPr/>
          <p:nvPr/>
        </p:nvSpPr>
        <p:spPr>
          <a:xfrm>
            <a:off x="384048" y="1773936"/>
            <a:ext cx="365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04672" y="182880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admin completo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04672" y="2084832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 de reservas, calendario operacional y directorio de clientes.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28600" y="2523744"/>
            <a:ext cx="8686800" cy="640080"/>
          </a:xfrm>
          <a:prstGeom prst="rect">
            <a:avLst/>
          </a:prstGeom>
          <a:solidFill>
            <a:srgbClr val="0D1B35"/>
          </a:solidFill>
          <a:ln w="12700">
            <a:solidFill>
              <a:srgbClr val="16A3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150"/>
          </a:p>
        </p:txBody>
      </p:sp>
      <p:sp>
        <p:nvSpPr>
          <p:cNvPr id="15" name="Shape 13"/>
          <p:cNvSpPr/>
          <p:nvPr/>
        </p:nvSpPr>
        <p:spPr>
          <a:xfrm>
            <a:off x="228600" y="2523744"/>
            <a:ext cx="91440" cy="64008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150"/>
          </a:p>
        </p:txBody>
      </p:sp>
      <p:sp>
        <p:nvSpPr>
          <p:cNvPr id="16" name="Text 14"/>
          <p:cNvSpPr/>
          <p:nvPr/>
        </p:nvSpPr>
        <p:spPr>
          <a:xfrm>
            <a:off x="384048" y="2523744"/>
            <a:ext cx="365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804672" y="257860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Native 24/7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04672" y="2834640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 + Railway. Sin hardware propio. SLA 99.9% garantizado.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28600" y="3273552"/>
            <a:ext cx="8686800" cy="640080"/>
          </a:xfrm>
          <a:prstGeom prst="rect">
            <a:avLst/>
          </a:prstGeom>
          <a:solidFill>
            <a:srgbClr val="0D1B35"/>
          </a:solidFill>
          <a:ln w="12700">
            <a:solidFill>
              <a:srgbClr val="16A3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150"/>
          </a:p>
        </p:txBody>
      </p:sp>
      <p:sp>
        <p:nvSpPr>
          <p:cNvPr id="20" name="Shape 18"/>
          <p:cNvSpPr/>
          <p:nvPr/>
        </p:nvSpPr>
        <p:spPr>
          <a:xfrm>
            <a:off x="228600" y="3273552"/>
            <a:ext cx="91440" cy="64008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150"/>
          </a:p>
        </p:txBody>
      </p:sp>
      <p:sp>
        <p:nvSpPr>
          <p:cNvPr id="21" name="Text 19"/>
          <p:cNvSpPr/>
          <p:nvPr/>
        </p:nvSpPr>
        <p:spPr>
          <a:xfrm>
            <a:off x="384048" y="3273552"/>
            <a:ext cx="365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804672" y="3328416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real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04672" y="3584448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+ BCrypt + Spring Security. Contraseñas nunca en texto plano.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84048" y="4023360"/>
            <a:ext cx="365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000" dirty="0"/>
          </a:p>
        </p:txBody>
      </p:sp>
      <p:sp>
        <p:nvSpPr>
          <p:cNvPr id="29" name="Shape 27"/>
          <p:cNvSpPr/>
          <p:nvPr/>
        </p:nvSpPr>
        <p:spPr>
          <a:xfrm>
            <a:off x="228600" y="4681728"/>
            <a:ext cx="8686800" cy="365760"/>
          </a:xfrm>
          <a:prstGeom prst="rect">
            <a:avLst/>
          </a:prstGeom>
          <a:solidFill>
            <a:srgbClr val="0D2B5E"/>
          </a:solidFill>
          <a:ln w="12700">
            <a:solidFill>
              <a:srgbClr val="1A73E8"/>
            </a:solidFill>
            <a:prstDash val="solid"/>
          </a:ln>
        </p:spPr>
        <p:txBody>
          <a:bodyPr/>
          <a:lstStyle/>
          <a:p>
            <a:endParaRPr lang="en-150"/>
          </a:p>
        </p:txBody>
      </p:sp>
      <p:sp>
        <p:nvSpPr>
          <p:cNvPr id="30" name="Text 28"/>
          <p:cNvSpPr/>
          <p:nvPr/>
        </p:nvSpPr>
        <p:spPr>
          <a:xfrm>
            <a:off x="365760" y="4709160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E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24/7 disponible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2560320" y="4709160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E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0 llamadas manuales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754880" y="4709160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E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Tiempo real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949440" y="4709160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E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Escalable sin personal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5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3200400"/>
            <a:ext cx="2286000" cy="2286000"/>
          </a:xfrm>
          <a:prstGeom prst="ellipse">
            <a:avLst/>
          </a:prstGeom>
          <a:solidFill>
            <a:srgbClr val="003D7E">
              <a:alpha val="30000"/>
            </a:srgbClr>
          </a:solidFill>
          <a:ln w="12700">
            <a:solidFill>
              <a:srgbClr val="003D7E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150"/>
          </a:p>
        </p:txBody>
      </p:sp>
      <p:sp>
        <p:nvSpPr>
          <p:cNvPr id="3" name="Shape 1"/>
          <p:cNvSpPr/>
          <p:nvPr/>
        </p:nvSpPr>
        <p:spPr>
          <a:xfrm>
            <a:off x="7772400" y="-457200"/>
            <a:ext cx="1828800" cy="1828800"/>
          </a:xfrm>
          <a:prstGeom prst="ellipse">
            <a:avLst/>
          </a:prstGeom>
          <a:solidFill>
            <a:srgbClr val="003D5E">
              <a:alpha val="40000"/>
            </a:srgbClr>
          </a:solidFill>
          <a:ln w="12700">
            <a:solidFill>
              <a:srgbClr val="003D5E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150"/>
          </a:p>
        </p:txBody>
      </p:sp>
      <p:sp>
        <p:nvSpPr>
          <p:cNvPr id="4" name="Text 2"/>
          <p:cNvSpPr/>
          <p:nvPr/>
        </p:nvSpPr>
        <p:spPr>
          <a:xfrm>
            <a:off x="914400" y="50292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CFD SERVICIOS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914400" y="1371600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C8E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de Agendamiento Online de Limpieza Profesional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371600" y="1874520"/>
            <a:ext cx="6400800" cy="36576"/>
          </a:xfrm>
          <a:prstGeom prst="rect">
            <a:avLst/>
          </a:prstGeom>
          <a:solidFill>
            <a:srgbClr val="003D7E"/>
          </a:solidFill>
          <a:ln w="12700">
            <a:solidFill>
              <a:srgbClr val="003D7E"/>
            </a:solidFill>
            <a:prstDash val="solid"/>
          </a:ln>
        </p:spPr>
        <p:txBody>
          <a:bodyPr/>
          <a:lstStyle/>
          <a:p>
            <a:endParaRPr lang="en-150"/>
          </a:p>
        </p:txBody>
      </p:sp>
      <p:sp>
        <p:nvSpPr>
          <p:cNvPr id="7" name="Shape 5"/>
          <p:cNvSpPr/>
          <p:nvPr/>
        </p:nvSpPr>
        <p:spPr>
          <a:xfrm>
            <a:off x="1371600" y="2057400"/>
            <a:ext cx="6400800" cy="475488"/>
          </a:xfrm>
          <a:prstGeom prst="rect">
            <a:avLst/>
          </a:prstGeom>
          <a:solidFill>
            <a:srgbClr val="0D1B35"/>
          </a:solidFill>
          <a:ln w="12700">
            <a:solidFill>
              <a:srgbClr val="0056B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150"/>
          </a:p>
        </p:txBody>
      </p:sp>
      <p:sp>
        <p:nvSpPr>
          <p:cNvPr id="8" name="Text 6"/>
          <p:cNvSpPr/>
          <p:nvPr/>
        </p:nvSpPr>
        <p:spPr>
          <a:xfrm>
            <a:off x="1508760" y="2057400"/>
            <a:ext cx="6126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Repositorio GitHub  →  github.com/cristianoZarate/CFD-Servicios-de-limpieza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371600" y="2651760"/>
            <a:ext cx="6400800" cy="475488"/>
          </a:xfrm>
          <a:prstGeom prst="rect">
            <a:avLst/>
          </a:prstGeom>
          <a:solidFill>
            <a:srgbClr val="0D1B35"/>
          </a:solidFill>
          <a:ln w="12700">
            <a:solidFill>
              <a:srgbClr val="0056B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150"/>
          </a:p>
        </p:txBody>
      </p:sp>
      <p:sp>
        <p:nvSpPr>
          <p:cNvPr id="10" name="Text 8"/>
          <p:cNvSpPr/>
          <p:nvPr/>
        </p:nvSpPr>
        <p:spPr>
          <a:xfrm>
            <a:off x="1508760" y="2651760"/>
            <a:ext cx="6126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en Producción  →  cfd-servicios-de-limpieza-production.up.railway.app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371600" y="3337560"/>
            <a:ext cx="3017520" cy="822960"/>
          </a:xfrm>
          <a:prstGeom prst="rect">
            <a:avLst/>
          </a:prstGeom>
          <a:solidFill>
            <a:srgbClr val="0D1B35"/>
          </a:solidFill>
          <a:ln w="12700">
            <a:solidFill>
              <a:srgbClr val="003D7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150"/>
          </a:p>
        </p:txBody>
      </p:sp>
      <p:sp>
        <p:nvSpPr>
          <p:cNvPr id="12" name="Shape 10"/>
          <p:cNvSpPr/>
          <p:nvPr/>
        </p:nvSpPr>
        <p:spPr>
          <a:xfrm>
            <a:off x="1481328" y="3520440"/>
            <a:ext cx="457200" cy="457200"/>
          </a:xfrm>
          <a:prstGeom prst="ellipse">
            <a:avLst/>
          </a:prstGeom>
          <a:solidFill>
            <a:srgbClr val="003D7E"/>
          </a:solidFill>
          <a:ln w="12700">
            <a:solidFill>
              <a:srgbClr val="003D7E"/>
            </a:solidFill>
            <a:prstDash val="solid"/>
          </a:ln>
        </p:spPr>
        <p:txBody>
          <a:bodyPr/>
          <a:lstStyle/>
          <a:p>
            <a:endParaRPr lang="en-150"/>
          </a:p>
        </p:txBody>
      </p:sp>
      <p:sp>
        <p:nvSpPr>
          <p:cNvPr id="13" name="Text 11"/>
          <p:cNvSpPr/>
          <p:nvPr/>
        </p:nvSpPr>
        <p:spPr>
          <a:xfrm>
            <a:off x="1481328" y="3520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FZ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029968" y="34290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Fernando Zárate Martínez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029968" y="373989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Líder de Proyecto / Frontend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846320" y="3337560"/>
            <a:ext cx="3017520" cy="822960"/>
          </a:xfrm>
          <a:prstGeom prst="rect">
            <a:avLst/>
          </a:prstGeom>
          <a:solidFill>
            <a:srgbClr val="0D1B35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150"/>
          </a:p>
        </p:txBody>
      </p:sp>
      <p:sp>
        <p:nvSpPr>
          <p:cNvPr id="17" name="Shape 15"/>
          <p:cNvSpPr/>
          <p:nvPr/>
        </p:nvSpPr>
        <p:spPr>
          <a:xfrm>
            <a:off x="4956048" y="3520440"/>
            <a:ext cx="457200" cy="45720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150"/>
          </a:p>
        </p:txBody>
      </p:sp>
      <p:sp>
        <p:nvSpPr>
          <p:cNvPr id="18" name="Text 16"/>
          <p:cNvSpPr/>
          <p:nvPr/>
        </p:nvSpPr>
        <p:spPr>
          <a:xfrm>
            <a:off x="4956048" y="3520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504688" y="34290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Gabriel Avendaño Campos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504688" y="373989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Desarrollador Backend / DBA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914400" y="4315968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C8E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¿Preguntas?</a:t>
            </a:r>
            <a:endParaRPr lang="en-US" sz="3800" dirty="0"/>
          </a:p>
        </p:txBody>
      </p:sp>
      <p:sp>
        <p:nvSpPr>
          <p:cNvPr id="22" name="Text 20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TPY1101 — Taller Aplicado de Programación  ·  Duoc UC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  <_activity xmlns="018484aa-5d29-4d99-8884-563c30a2e1b6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30FD07C9EB9E314AA83D476BFE596F97" ma:contentTypeVersion="14" ma:contentTypeDescription="Crear nuevo documento." ma:contentTypeScope="" ma:versionID="9d8b4598de4d1620b47ba73e7932620c">
  <xsd:schema xmlns:xsd="http://www.w3.org/2001/XMLSchema" xmlns:xs="http://www.w3.org/2001/XMLSchema" xmlns:p="http://schemas.microsoft.com/office/2006/metadata/properties" xmlns:ns1="http://schemas.microsoft.com/sharepoint/v3" xmlns:ns3="018484aa-5d29-4d99-8884-563c30a2e1b6" targetNamespace="http://schemas.microsoft.com/office/2006/metadata/properties" ma:root="true" ma:fieldsID="93219a160967857a488d4757793d8471" ns1:_="" ns3:_="">
    <xsd:import namespace="http://schemas.microsoft.com/sharepoint/v3"/>
    <xsd:import namespace="018484aa-5d29-4d99-8884-563c30a2e1b6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_activity" minOccurs="0"/>
                <xsd:element ref="ns3:MediaServiceDateTaken" minOccurs="0"/>
                <xsd:element ref="ns3:MediaServiceSystemTags" minOccurs="0"/>
                <xsd:element ref="ns3:MediaServiceLocation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3:MediaServiceOCR" minOccurs="0"/>
                <xsd:element ref="ns1:_ip_UnifiedCompliancePolicyProperties" minOccurs="0"/>
                <xsd:element ref="ns1:_ip_UnifiedCompliancePolicyUIAc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Propiedades de la Directiva de cumplimiento unificado" ma:hidden="true" ma:internalName="_ip_UnifiedCompliancePolicyProperties">
      <xsd:simpleType>
        <xsd:restriction base="dms:Note"/>
      </xsd:simpleType>
    </xsd:element>
    <xsd:element name="_ip_UnifiedCompliancePolicyUIAction" ma:index="21" nillable="true" ma:displayName="Acción de IU de la Directiva de cumplimiento unificado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18484aa-5d29-4d99-8884-563c30a2e1b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2" nillable="true" ma:displayName="_activity" ma:hidden="true" ma:internalName="_activity">
      <xsd:simpleType>
        <xsd:restriction base="dms:Note"/>
      </xsd:simpleType>
    </xsd:element>
    <xsd:element name="MediaServiceDateTaken" ma:index="13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ystemTags" ma:index="14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Location" ma:index="15" nillable="true" ma:displayName="Location" ma:indexed="true" ma:internalName="MediaServiceLocation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E7CF034-A6FE-4A49-8A50-AEB4F3D6A073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C129FCE-E90B-4966-A1FD-D2E3B8996633}">
  <ds:schemaRefs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www.w3.org/XML/1998/namespace"/>
    <ds:schemaRef ds:uri="http://purl.org/dc/dcmitype/"/>
    <ds:schemaRef ds:uri="http://schemas.microsoft.com/office/2006/documentManagement/types"/>
    <ds:schemaRef ds:uri="http://schemas.microsoft.com/office/infopath/2007/PartnerControls"/>
    <ds:schemaRef ds:uri="018484aa-5d29-4d99-8884-563c30a2e1b6"/>
    <ds:schemaRef ds:uri="http://schemas.microsoft.com/sharepoint/v3"/>
  </ds:schemaRefs>
</ds:datastoreItem>
</file>

<file path=customXml/itemProps3.xml><?xml version="1.0" encoding="utf-8"?>
<ds:datastoreItem xmlns:ds="http://schemas.openxmlformats.org/officeDocument/2006/customXml" ds:itemID="{914C9A0E-5D83-49AA-9D2E-7133D8F4464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018484aa-5d29-4d99-8884-563c30a2e1b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65</TotalTime>
  <Words>1828</Words>
  <Application>Microsoft Office PowerPoint</Application>
  <PresentationFormat>Presentación en pantalla (16:9)</PresentationFormat>
  <Paragraphs>498</Paragraphs>
  <Slides>21</Slides>
  <Notes>21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CFD Servicios — Estado de Avance N°2</dc:title>
  <dc:subject>PptxGenJS Presentation</dc:subject>
  <dc:creator>Fernando Zárate / Gabriel Avendaño</dc:creator>
  <cp:lastModifiedBy>FERNANDO ANTONIO ZARATE MARTINEZ</cp:lastModifiedBy>
  <cp:revision>5</cp:revision>
  <dcterms:created xsi:type="dcterms:W3CDTF">2026-05-28T18:30:12Z</dcterms:created>
  <dcterms:modified xsi:type="dcterms:W3CDTF">2026-05-28T20:59:08Z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0x01010030FD07C9EB9E314AA83D476BFE596F97</vt:lpwstr>
  </property>
</Properties>
</file>
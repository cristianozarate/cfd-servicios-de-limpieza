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926080"/>
            <a:ext cx="2926080" cy="2926080"/>
          </a:xfrm>
          <a:prstGeom prst="ellipse">
            <a:avLst/>
          </a:prstGeom>
          <a:solidFill>
            <a:srgbClr val="003D7E">
              <a:alpha val="40000"/>
            </a:srgbClr>
          </a:solidFill>
          <a:ln w="12700">
            <a:solidFill>
              <a:srgbClr val="003D7E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-914400"/>
            <a:ext cx="2377440" cy="2377440"/>
          </a:xfrm>
          <a:prstGeom prst="ellipse">
            <a:avLst/>
          </a:prstGeom>
          <a:solidFill>
            <a:srgbClr val="003D5E">
              <a:alpha val="45000"/>
            </a:srgbClr>
          </a:solidFill>
          <a:ln w="12700">
            <a:solidFill>
              <a:srgbClr val="003D5E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D1B35"/>
          </a:solidFill>
          <a:ln w="19050">
            <a:solidFill>
              <a:srgbClr val="C8E6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71323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400" kern="0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3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19659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 — CFD Servicios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2880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la solución y su calidad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3977640"/>
            <a:ext cx="4023360" cy="658368"/>
          </a:xfrm>
          <a:prstGeom prst="rect">
            <a:avLst/>
          </a:prstGeom>
          <a:solidFill>
            <a:srgbClr val="0D1B35"/>
          </a:solidFill>
          <a:ln w="12700">
            <a:solidFill>
              <a:srgbClr val="003D7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13232" y="4069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Fernando Zárate Martínez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de Proyecto / Frontend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3977640"/>
            <a:ext cx="3840480" cy="658368"/>
          </a:xfrm>
          <a:prstGeom prst="rect">
            <a:avLst/>
          </a:prstGeom>
          <a:solidFill>
            <a:srgbClr val="0D1B3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19472" y="4069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Avendaño Campos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 Backend / DBA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47731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TPY1101 — Taller Aplicado de Programación  ·  Duoc UC 2026  ·  20 minutos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 qué hablaremos hoy?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20624" cy="420624"/>
          </a:xfrm>
          <a:prstGeom prst="ellipse">
            <a:avLst/>
          </a:prstGeom>
          <a:solidFill>
            <a:srgbClr val="003D7E"/>
          </a:solidFill>
          <a:ln w="12700">
            <a:solidFill>
              <a:srgbClr val="003D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34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5568" y="12527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Servicios — recordatorio rápido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01368"/>
            <a:ext cx="420624" cy="420624"/>
          </a:xfrm>
          <a:prstGeom prst="ellipse">
            <a:avLst/>
          </a:prstGeom>
          <a:solidFill>
            <a:srgbClr val="0056B3"/>
          </a:solidFill>
          <a:ln w="12700">
            <a:solidFill>
              <a:srgbClr val="0056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01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181965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y alcance del Plan de Pruebas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68296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5568" y="238658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Estrategia, herramientas y ambientes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935224"/>
            <a:ext cx="420624" cy="420624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35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15568" y="29535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de requisitos vs. casos de prueba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1234440"/>
            <a:ext cx="420624" cy="42062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234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13248" y="12527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Resultados: 20 casos funcionales + 26 verificaciones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46320" y="1801368"/>
            <a:ext cx="420624" cy="420624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801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13248" y="181965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Aspectos destacados de seguridad y datos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2368296"/>
            <a:ext cx="420624" cy="420624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13248" y="238658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vivo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46320" y="2935224"/>
            <a:ext cx="420624" cy="420624"/>
          </a:xfrm>
          <a:prstGeom prst="ellipse">
            <a:avLst/>
          </a:prstGeom>
          <a:solidFill>
            <a:srgbClr val="003D7E"/>
          </a:solidFill>
          <a:ln w="12700">
            <a:solidFill>
              <a:srgbClr val="003D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935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13248" y="29535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solidFill>
            <a:srgbClr val="EBF3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de la asignatura  ·  Encargo con presentación  ·  Equipo de trabajo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Recordatorio: ¿qué es CFD Servicios?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Fullstack de agendamiento de servicios de limpieza profesional, que reemplazó el sitio informativo estático por un sistema transaccional.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057400"/>
            <a:ext cx="548640" cy="548640"/>
          </a:xfrm>
          <a:prstGeom prst="ellipse">
            <a:avLst/>
          </a:prstGeom>
          <a:solidFill>
            <a:srgbClr val="0056B3"/>
          </a:solidFill>
          <a:ln w="12700">
            <a:solidFill>
              <a:srgbClr val="0056B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182880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0" y="205740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0" y="182880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2057400"/>
            <a:ext cx="548640" cy="54864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9456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1520" y="31089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Agenda, Login, Registro,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</a:t>
            </a:r>
            <a:endParaRPr lang="en-US" sz="1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19456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472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474720" y="31089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+ Java 17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REST, JWT, BCrypt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1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1945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217920" y="31089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(frontend)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(backend + BD)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CI/CD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343400"/>
            <a:ext cx="8046720" cy="502920"/>
          </a:xfrm>
          <a:prstGeom prst="rect">
            <a:avLst/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48640" y="43434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EP1 y EP2: producto funcional al 100% — 15/15 funcionalidades · 26/26 pruebas aprobadas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y Alcance del Plan de Pruebas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8046720" cy="914400"/>
          </a:xfrm>
          <a:prstGeom prst="rect">
            <a:avLst/>
          </a:prstGeom>
          <a:solidFill>
            <a:srgbClr val="EBF3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430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que CFD Servicios cumple sus requisitos funcionales y de seguridad en ambos ambientes (local y producción).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Incluido en el alcance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Autenticación: registro, login, logout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08152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Agendamiento: disponibilidad y reservas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46557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Panel administrativo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84962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Configuración multi-ambiente (.env)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2286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del alcance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26974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Pruebas de carga / estrés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308152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Auditoría de seguridad formal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346557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Integración con pasarelas de pago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80467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3434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Documentos: Plan de Pruebas Funcionales (Word) + Planilla de Casos de Prueba (Excel)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Pruebas en 4 Niveles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965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88720" y="1463040"/>
            <a:ext cx="685800" cy="685800"/>
          </a:xfrm>
          <a:prstGeom prst="ellipse">
            <a:avLst/>
          </a:prstGeom>
          <a:solidFill>
            <a:srgbClr val="0056B3"/>
          </a:solidFill>
          <a:ln w="12700">
            <a:solidFill>
              <a:srgbClr val="0056B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679192"/>
            <a:ext cx="1691640" cy="384048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67919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+ Mockito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 aislada (ReservaService, DisponibilidadService)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51760" y="1234440"/>
            <a:ext cx="1965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463040"/>
            <a:ext cx="685800" cy="6858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743200" y="2240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88920" y="2679192"/>
            <a:ext cx="1691640" cy="384048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267919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+ Swagger UI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88920" y="315468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endpoints REST con códigos HTTP esperados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234440"/>
            <a:ext cx="1965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94960" y="1463040"/>
            <a:ext cx="685800" cy="68580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846320" y="2240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 (UI)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92040" y="2679192"/>
            <a:ext cx="1691640" cy="384048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67919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DevTools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315468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completos: registro, login, agenda, admin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0" y="1234440"/>
            <a:ext cx="1965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0" y="1463040"/>
            <a:ext cx="685800" cy="6858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949440" y="2240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995160" y="2679192"/>
            <a:ext cx="1691640" cy="384048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95160" y="267919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+ JUnit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95160" y="315468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Repetición periódica para asegurar la estabilidad del sistema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Otras herramientas: MySQL Workbench · Maven (mvnw) · Vite · Git / GitHub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Ambiente, Dos Configuraciones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pruebas se ejecutan en local y en producción sin remapear ningún archivo, gracias a variables de entorno.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931920" cy="3108960"/>
          </a:xfrm>
          <a:prstGeom prst="rect">
            <a:avLst/>
          </a:prstGeom>
          <a:solidFill>
            <a:srgbClr val="0D1E10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39319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LOCAL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450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:5173 — .env.local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044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:8080 (mvnw)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383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639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XAMPP :3306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977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42336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application.properties con defaults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554480"/>
            <a:ext cx="3931920" cy="3108960"/>
          </a:xfrm>
          <a:prstGeom prst="rect">
            <a:avLst/>
          </a:prstGeom>
          <a:solidFill>
            <a:srgbClr val="1E0D00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554480"/>
            <a:ext cx="393192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554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PRODUCCIÓN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92040" y="2194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2450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— .env.production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788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3044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JVM (deploy automático)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383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3639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Railway :23439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3977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42336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MYSQLHOST/USER/etc. inyectadas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754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npm run dev / build cambia la URL automáticamente, sin tocar código  ←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Trazabilidad: Requisitos ↔ Casos de Prueba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de los 12 requisitos funcionales del sistema está cubierto por al menos un caso de prueba.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965960" cy="297180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45920"/>
            <a:ext cx="1965960" cy="457200"/>
          </a:xfrm>
          <a:prstGeom prst="rect">
            <a:avLst/>
          </a:prstGeom>
          <a:solidFill>
            <a:srgbClr val="0056B3"/>
          </a:solidFill>
          <a:ln w="12700">
            <a:solidFill>
              <a:srgbClr val="0056B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RF-001 Registrarse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2606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RF-002 Iniciar sesión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85800" y="2971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RF-003 Cerrar sesión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4251960"/>
            <a:ext cx="1691640" cy="347472"/>
          </a:xfrm>
          <a:prstGeom prst="rect">
            <a:avLst>
              <a:gd name="adj" fmla="val 13158"/>
            </a:avLst>
          </a:prstGeom>
          <a:solidFill>
            <a:srgbClr val="0056B3"/>
          </a:solidFill>
          <a:ln w="12700">
            <a:solidFill>
              <a:srgbClr val="0056B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42519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CP-01 a CP-08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51760" y="1645920"/>
            <a:ext cx="1965960" cy="297180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51760" y="1645920"/>
            <a:ext cx="19659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645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Agendamiento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88920" y="2240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RF-004 Agendar servicio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88920" y="2606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RF-005 Confirmar reserva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88920" y="2971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RF-006 Ver historial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88920" y="4251960"/>
            <a:ext cx="1691640" cy="347472"/>
          </a:xfrm>
          <a:prstGeom prst="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88920" y="42519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CP-09 a CP-12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645920"/>
            <a:ext cx="1965960" cy="297180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645920"/>
            <a:ext cx="1965960" cy="4572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645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Perfil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2240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RF-007 Ver y editar datos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92040" y="2606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Restricción para admins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92040" y="4251960"/>
            <a:ext cx="1691640" cy="347472"/>
          </a:xfrm>
          <a:prstGeom prst="rect">
            <a:avLst>
              <a:gd name="adj" fmla="val 13158"/>
            </a:avLst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42519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CP-13 a CP-16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0" y="1645920"/>
            <a:ext cx="1965960" cy="297180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58000" y="1645920"/>
            <a:ext cx="1965960" cy="45720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1645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95160" y="2240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RF-008 Panel admin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995160" y="2606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RF-009 Catálogo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995160" y="2971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RF-010 Disponibilidad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995160" y="3337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RF-011 Reservas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995160" y="3703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RF-012 Clientes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995160" y="4251960"/>
            <a:ext cx="1691640" cy="347472"/>
          </a:xfrm>
          <a:prstGeom prst="rect">
            <a:avLst>
              <a:gd name="adj" fmla="val 13158"/>
            </a:avLst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95160" y="42519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CP-17 a CP-20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4846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RF  →  20 CP  →  100% de cobertura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Generales de Ejecución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2011680"/>
          </a:xfrm>
          <a:prstGeom prst="rect">
            <a:avLst/>
          </a:prstGeom>
          <a:solidFill>
            <a:srgbClr val="141F35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4173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20/20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Prueba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 (CP)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280160"/>
            <a:ext cx="2560320" cy="2011680"/>
          </a:xfrm>
          <a:prstGeom prst="rect">
            <a:avLst/>
          </a:prstGeom>
          <a:solidFill>
            <a:srgbClr val="141F35"/>
          </a:solidFill>
          <a:ln w="12700">
            <a:solidFill>
              <a:srgbClr val="0056B3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14173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5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26/26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291840" y="2468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Verificaciones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(E-x.x)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560320" cy="2011680"/>
          </a:xfrm>
          <a:prstGeom prst="rect">
            <a:avLst/>
          </a:prstGeom>
          <a:solidFill>
            <a:srgbClr val="141F35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0" y="14173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12/12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035040" y="2468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Funcionales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Cubiertos (RF)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8046720" cy="914400"/>
          </a:xfrm>
          <a:prstGeom prst="rect">
            <a:avLst/>
          </a:prstGeom>
          <a:solidFill>
            <a:srgbClr val="0D2B5E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204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 aprobación  —  Ningún caso en estado NC (No Cumple) o pendiente de revisión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evaluadas: Interfaz Gráfica · Validación de Datos · Funcionales E2E · Seguridad · Mi Perfil · API/Configuración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Aspectos Destacados de Seguridad y Datos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que sostienen la integridad y protección de la información en todo el sistema.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931920" cy="1115568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73152" cy="1115568"/>
          </a:xfrm>
          <a:prstGeom prst="rect">
            <a:avLst/>
          </a:prstGeom>
          <a:solidFill>
            <a:srgbClr val="0056B3"/>
          </a:solidFill>
          <a:ln w="12700">
            <a:solidFill>
              <a:srgbClr val="0056B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709928"/>
            <a:ext cx="365760" cy="365760"/>
          </a:xfrm>
          <a:prstGeom prst="ellipse">
            <a:avLst/>
          </a:prstGeom>
          <a:solidFill>
            <a:srgbClr val="0056B3"/>
          </a:solidFill>
          <a:ln w="12700">
            <a:solidFill>
              <a:srgbClr val="0056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67335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encriptadas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2075688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contraseñas se almacenan con BCrypt, nunca en texto plano.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508760"/>
            <a:ext cx="3931920" cy="1115568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508760"/>
            <a:ext cx="73152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64608" y="1709928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49240" y="167335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con JWT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4608" y="2075688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petición protegida se valida mediante un token firmado.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761488"/>
            <a:ext cx="3931920" cy="1115568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761488"/>
            <a:ext cx="73152" cy="1115568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2962656"/>
            <a:ext cx="365760" cy="36576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2962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29260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restringido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9808" y="3328416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los orígenes autorizados (Vercel y entorno local) consumen la API.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2761488"/>
            <a:ext cx="3931920" cy="1115568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761488"/>
            <a:ext cx="73152" cy="11155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64608" y="2962656"/>
            <a:ext cx="365760" cy="3657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2962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49240" y="29260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siempre completo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64608" y="3328416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listado de servicios muestra todos los registros disponibles.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014216"/>
            <a:ext cx="3931920" cy="1115568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4014216"/>
            <a:ext cx="73152" cy="11155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" y="4215384"/>
            <a:ext cx="365760" cy="3657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4215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34440" y="417880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de clientes preciso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49808" y="4581144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administradores quedan excluidos del listado de clientes.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63440" y="4014216"/>
            <a:ext cx="3931920" cy="1115568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4014216"/>
            <a:ext cx="73152" cy="11155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64608" y="4215384"/>
            <a:ext cx="365760" cy="3657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4215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349240" y="417880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sin solapamiento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864608" y="4581144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bloques horarios se generan de forma uniforme y consistente.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Vivo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del flujo de agendamiento y del nuevo módulo Mi Perfil, mostrando la sincronización entre frontend y base de datos.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0056B3"/>
          </a:solidFill>
          <a:ln w="12700">
            <a:solidFill>
              <a:srgbClr val="0056B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" y="1463040"/>
            <a:ext cx="7452360" cy="566928"/>
          </a:xfrm>
          <a:prstGeom prst="rect">
            <a:avLst/>
          </a:prstGeom>
          <a:solidFill>
            <a:srgbClr val="141F35"/>
          </a:solidFill>
          <a:ln w="12700">
            <a:solidFill>
              <a:srgbClr val="0056B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25880" y="15087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un horario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17556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servicio, fecha y bloque horario disponible en /agenda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157984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57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43000" y="2157984"/>
            <a:ext cx="7452360" cy="566928"/>
          </a:xfrm>
          <a:prstGeom prst="rect">
            <a:avLst/>
          </a:prstGeom>
          <a:solidFill>
            <a:srgbClr val="141F3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25880" y="220370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la reserva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25880" y="24505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sesión y confirmar → se muestra el número CFD-{id}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852928"/>
            <a:ext cx="457200" cy="45720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43000" y="2852928"/>
            <a:ext cx="7452360" cy="566928"/>
          </a:xfrm>
          <a:prstGeom prst="rect">
            <a:avLst/>
          </a:prstGeom>
          <a:solidFill>
            <a:srgbClr val="141F35"/>
          </a:solidFill>
          <a:ln w="12700">
            <a:solidFill>
              <a:srgbClr val="933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325880" y="28986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Mi Perfil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314553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y editar datos personales, y consultar el historial en "Mis Agendamientos"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547872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43000" y="3547872"/>
            <a:ext cx="7452360" cy="566928"/>
          </a:xfrm>
          <a:prstGeom prst="rect">
            <a:avLst/>
          </a:prstGeom>
          <a:solidFill>
            <a:srgbClr val="141F35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325880" y="35935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en MySQL Workbench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25880" y="384048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cuposOcupados se incrementó en disponibilidad y la reserva quedó CONFIRMADA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242816"/>
            <a:ext cx="457200" cy="4572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143000" y="4242816"/>
            <a:ext cx="7452360" cy="566928"/>
          </a:xfrm>
          <a:prstGeom prst="rect">
            <a:avLst/>
          </a:prstGeom>
          <a:solidFill>
            <a:srgbClr val="141F35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325880" y="428853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 desde el Panel Admin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25880" y="453542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"Cancelar agendamiento" → cupo liberado, estado CANCELADA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488289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Ambiente: navegador (Vite local) + MySQL Workbench en paralelo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73152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1335024"/>
            <a:ext cx="438912" cy="43891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350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26187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completa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536192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12 requisitos funcionales (incluyendo Mi Perfil) quedan cubiertos por 20 casos de prueba, con trazabilidad documentada.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8046720" cy="73152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2203704"/>
            <a:ext cx="438912" cy="43891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2037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21305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verificada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2404872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verificaciones estándar aprobadas al 100%, sin pendientes.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8046720" cy="73152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072384"/>
            <a:ext cx="438912" cy="43891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072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299923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datos consistentes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3273552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contraseñas, los tokens de sesión y los datos administrativos se validan correctamente en todo el sistema.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8046720" cy="73152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3232" y="3941064"/>
            <a:ext cx="438912" cy="43891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941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25880" y="386791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 equivalentes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4142232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y Railway producen los mismos resultados, validados con la misma suite de pruebas.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003D7E">
              <a:alpha val="30000"/>
            </a:srgbClr>
          </a:solidFill>
          <a:ln w="12700">
            <a:solidFill>
              <a:srgbClr val="003D7E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003D5E">
              <a:alpha val="40000"/>
            </a:srgbClr>
          </a:solidFill>
          <a:ln w="12700">
            <a:solidFill>
              <a:srgbClr val="003D5E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8229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SERVICIOS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3 — Plan de Pruebas completado al 100%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2240280"/>
            <a:ext cx="6400800" cy="36576"/>
          </a:xfrm>
          <a:prstGeom prst="rect">
            <a:avLst/>
          </a:prstGeom>
          <a:solidFill>
            <a:srgbClr val="003D7E"/>
          </a:solidFill>
          <a:ln w="12700">
            <a:solidFill>
              <a:srgbClr val="003D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7432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1371600" y="4114800"/>
            <a:ext cx="3017520" cy="640080"/>
          </a:xfrm>
          <a:prstGeom prst="rect">
            <a:avLst/>
          </a:prstGeom>
          <a:solidFill>
            <a:srgbClr val="0D1B35"/>
          </a:solidFill>
          <a:ln w="12700">
            <a:solidFill>
              <a:srgbClr val="003D7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81328" y="4224528"/>
            <a:ext cx="420624" cy="420624"/>
          </a:xfrm>
          <a:prstGeom prst="ellipse">
            <a:avLst/>
          </a:prstGeom>
          <a:solidFill>
            <a:srgbClr val="003D7E"/>
          </a:solidFill>
          <a:ln w="12700">
            <a:solidFill>
              <a:srgbClr val="003D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81328" y="4224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FZ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0" y="4114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Fernando Zárate Martínez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4114800"/>
            <a:ext cx="3017520" cy="640080"/>
          </a:xfrm>
          <a:prstGeom prst="rect">
            <a:avLst/>
          </a:prstGeom>
          <a:solidFill>
            <a:srgbClr val="0D1B3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56048" y="4224528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4224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0" y="4114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Avendaño Campos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TPY1101 — Taller Aplicado de Programación  ·  Duoc UC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CFD Servicios — Experiencia 3: Plan de Pruebas</dc:title>
  <dc:subject>PptxGenJS Presentation</dc:subject>
  <dc:creator>Fernando Zárate / Gabriel Avendaño</dc:creator>
  <cp:lastModifiedBy>Fernando Zárate / Gabriel Avendaño</cp:lastModifiedBy>
  <cp:revision>1</cp:revision>
  <dcterms:created xsi:type="dcterms:W3CDTF">2026-06-18T01:36:52Z</dcterms:created>
  <dcterms:modified xsi:type="dcterms:W3CDTF">2026-06-18T01:36:52Z</dcterms:modified>
</cp:coreProperties>
</file>